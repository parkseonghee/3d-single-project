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78" r:id="rId8"/>
    <p:sldId id="270" r:id="rId9"/>
    <p:sldId id="271" r:id="rId10"/>
    <p:sldId id="272" r:id="rId11"/>
    <p:sldId id="273" r:id="rId12"/>
    <p:sldId id="262" r:id="rId13"/>
    <p:sldId id="274" r:id="rId14"/>
    <p:sldId id="275" r:id="rId15"/>
    <p:sldId id="276" r:id="rId16"/>
    <p:sldId id="277" r:id="rId17"/>
    <p:sldId id="280" r:id="rId18"/>
    <p:sldId id="267" r:id="rId19"/>
  </p:sldIdLst>
  <p:sldSz cx="18288000" cy="10287000"/>
  <p:notesSz cx="6858000" cy="9144000"/>
  <p:embeddedFontLst>
    <p:embeddedFont>
      <p:font typeface="S-Core Dream 2 ExtraLight" panose="020B0600000101010101" charset="-127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7" d="100"/>
          <a:sy n="107" d="100"/>
        </p:scale>
        <p:origin x="294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sv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1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svg"/><Relationship Id="rId3" Type="http://schemas.openxmlformats.org/officeDocument/2006/relationships/image" Target="../media/image5.sv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5" Type="http://schemas.openxmlformats.org/officeDocument/2006/relationships/image" Target="../media/image5.png"/><Relationship Id="rId15" Type="http://schemas.openxmlformats.org/officeDocument/2006/relationships/image" Target="../media/image26.svg"/><Relationship Id="rId10" Type="http://schemas.openxmlformats.org/officeDocument/2006/relationships/image" Target="../media/image7.png"/><Relationship Id="rId4" Type="http://schemas.openxmlformats.org/officeDocument/2006/relationships/image" Target="../media/image14.svg"/><Relationship Id="rId9" Type="http://schemas.openxmlformats.org/officeDocument/2006/relationships/image" Target="../media/image20.svg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rkseonghee/roguetower-portfolio" TargetMode="External"/><Relationship Id="rId2" Type="http://schemas.openxmlformats.org/officeDocument/2006/relationships/hyperlink" Target="https://store.onstove.com/ko/games/104398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hyperlink" Target="https://github.com/parkseonghee/zoojack-portfolio" TargetMode="External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oxonkr.itch.io/zoo-jack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../slideLayouts/slideLayout7.xml" Id="Rf7c2e6dda9794704" /><Relationship Type="http://schemas.openxmlformats.org/officeDocument/2006/relationships/image" Target="../media/portfolio_3d_gameplay.png" Id="Rd70c0eefb16b46a2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8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2100" y="1524000"/>
            <a:ext cx="11303000" cy="3022600"/>
          </a:xfrm>
          <a:prstGeom prst="rect">
            <a:avLst/>
          </a:prstGeom>
        </p:spPr>
        <p:txBody>
          <a:bodyPr lIns="0" tIns="10250" rIns="0" bIns="10250" rtlCol="0" anchor="ctr"/>
          <a:lstStyle/>
          <a:p>
            <a:pPr lvl="0" algn="l">
              <a:lnSpc>
                <a:spcPct val="114622"/>
              </a:lnSpc>
            </a:pPr>
            <a:r>
              <a:rPr lang="en-US" sz="8495" b="0" i="0" u="none" strike="noStrike" spc="-600">
                <a:solidFill>
                  <a:srgbClr val="FFFFFF"/>
                </a:solidFill>
                <a:latin typeface="S-Core Dream 7 ExtraBold"/>
                <a:ea typeface="S-Core Dream 7 ExtraBold"/>
                <a:cs typeface="S-Core Dream 7 ExtraBold"/>
              </a:rPr>
              <a:t>끝까지 완성하는</a:t>
            </a:r>
          </a:p>
          <a:p>
            <a:pPr lvl="0" algn="l">
              <a:lnSpc>
                <a:spcPct val="114622"/>
              </a:lnSpc>
            </a:pPr>
            <a:r>
              <a:rPr lang="en-US" sz="8495" b="0" i="0" u="none" strike="noStrike" spc="-600">
                <a:solidFill>
                  <a:srgbClr val="FFFFFF"/>
                </a:solidFill>
                <a:latin typeface="S-Core Dream 7 ExtraBold"/>
                <a:ea typeface="S-Core Dream 7 ExtraBold"/>
                <a:cs typeface="S-Core Dream 7 ExtraBold"/>
              </a:rPr>
              <a:t>개발자 박성희입니다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76400" y="4889500"/>
            <a:ext cx="91440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6036"/>
              </a:lnSpc>
            </a:pPr>
            <a:r>
              <a:rPr lang="en-US" sz="2595" b="0" i="0" u="none" strike="noStrike">
                <a:solidFill>
                  <a:srgbClr val="FFFFFF"/>
                </a:solidFill>
                <a:latin typeface="S-Core Dream 4 Regular"/>
                <a:ea typeface="S-Core Dream 4 Regular"/>
                <a:cs typeface="S-Core Dream 4 Regular"/>
              </a:rPr>
              <a:t>2026 PORTFOLIO  ·  Unity Client Programmer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76400" y="7505700"/>
            <a:ext cx="4622800" cy="107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3713"/>
              </a:lnSpc>
            </a:pPr>
            <a:r>
              <a:rPr lang="en-US" sz="1799" b="0" i="0" u="none" strike="noStrike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CONTACT</a:t>
            </a:r>
          </a:p>
          <a:p>
            <a:pPr lvl="0" algn="l">
              <a:lnSpc>
                <a:spcPct val="133713"/>
              </a:lnSpc>
            </a:pPr>
            <a:r>
              <a:rPr lang="en-US" sz="1799" b="0" i="0" u="none" strike="noStrike">
                <a:solidFill>
                  <a:srgbClr val="FFFFFF"/>
                </a:solidFill>
                <a:latin typeface="S-Core Dream 3 Light"/>
                <a:ea typeface="S-Core Dream 3 Light"/>
                <a:cs typeface="S-Core Dream 3 Light"/>
              </a:rPr>
              <a:t>aprk5678@naver.com</a:t>
            </a:r>
          </a:p>
          <a:p>
            <a:pPr lvl="0" algn="l">
              <a:lnSpc>
                <a:spcPct val="133713"/>
              </a:lnSpc>
            </a:pPr>
            <a:r>
              <a:rPr lang="en-US" sz="1799" b="0" i="0" u="none" strike="noStrike">
                <a:solidFill>
                  <a:srgbClr val="FFFFFF"/>
                </a:solidFill>
                <a:latin typeface="S-Core Dream 3 Light"/>
                <a:ea typeface="S-Core Dream 3 Light"/>
                <a:cs typeface="S-Core Dream 3 Light"/>
              </a:rPr>
              <a:t>010-7740-7099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87700" y="7467600"/>
            <a:ext cx="8509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0" y="1511300"/>
            <a:ext cx="2311400" cy="2311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089400" y="1409700"/>
            <a:ext cx="3810000" cy="2552700"/>
          </a:xfrm>
          <a:prstGeom prst="rect">
            <a:avLst/>
          </a:prstGeom>
        </p:spPr>
        <p:txBody>
          <a:bodyPr lIns="0" tIns="76668" rIns="0" bIns="42660" rtlCol="0" anchor="ctr"/>
          <a:lstStyle/>
          <a:p>
            <a:pPr lvl="0" algn="l">
              <a:lnSpc>
                <a:spcPct val="94868"/>
              </a:lnSpc>
            </a:pPr>
            <a:r>
              <a:rPr lang="en-US" sz="4697" b="0" i="0" u="none" strike="noStrike" spc="-200">
                <a:solidFill>
                  <a:srgbClr val="4E4E4E"/>
                </a:solidFill>
                <a:latin typeface="S-Core Dream 2 ExtraLight"/>
                <a:ea typeface="S-Core Dream 2 ExtraLight"/>
                <a:cs typeface="S-Core Dream 2 ExtraLight"/>
              </a:rPr>
              <a:t>출시까지 해본</a:t>
            </a:r>
          </a:p>
          <a:p>
            <a:pPr lvl="0" algn="l">
              <a:lnSpc>
                <a:spcPct val="100180"/>
              </a:lnSpc>
            </a:pPr>
            <a:r>
              <a:rPr lang="en-US" sz="6361" b="0" i="0" u="none" strike="noStrike" spc="-30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개발자</a:t>
            </a:r>
          </a:p>
          <a:p>
            <a:pPr lvl="0" algn="l">
              <a:lnSpc>
                <a:spcPct val="104329"/>
              </a:lnSpc>
            </a:pPr>
            <a:r>
              <a:rPr lang="en-US" sz="4697" b="0" i="0" u="none" strike="noStrike" spc="-200">
                <a:solidFill>
                  <a:srgbClr val="4E4E4E"/>
                </a:solidFill>
                <a:latin typeface="S-Core Dream 4 Regular"/>
                <a:ea typeface="S-Core Dream 4 Regular"/>
                <a:cs typeface="S-Core Dream 4 Regular"/>
              </a:rPr>
              <a:t>박성희입니다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5400000">
            <a:off x="4635500" y="5105400"/>
            <a:ext cx="7302500" cy="101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928100" y="1447800"/>
            <a:ext cx="45720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8487"/>
              </a:lnSpc>
            </a:pPr>
            <a:r>
              <a:rPr lang="en-US" sz="2500" b="0" i="0" u="none" strike="noStrike">
                <a:solidFill>
                  <a:srgbClr val="668EFD"/>
                </a:solidFill>
                <a:latin typeface="S-Core Dream 7 ExtraBold"/>
                <a:ea typeface="S-Core Dream 7 ExtraBold"/>
                <a:cs typeface="S-Core Dream 7 ExtraBold"/>
              </a:rPr>
              <a:t>박성희  / Park Seonghee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28100" y="2806700"/>
            <a:ext cx="393192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3713"/>
              </a:lnSpc>
            </a:pPr>
            <a:r>
              <a:rPr lang="en-US" sz="1599" b="1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Tel. </a:t>
            </a: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010-7740-7099</a:t>
            </a:r>
          </a:p>
          <a:p>
            <a:pPr lvl="0" algn="l">
              <a:lnSpc>
                <a:spcPct val="133713"/>
              </a:lnSpc>
            </a:pPr>
            <a:r>
              <a:rPr lang="en-US" sz="1599" b="1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Email. </a:t>
            </a: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aprk5678@naver.com</a:t>
            </a:r>
          </a:p>
          <a:p>
            <a:pPr lvl="0" algn="l">
              <a:lnSpc>
                <a:spcPct val="133713"/>
              </a:lnSpc>
            </a:pP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GitHub. github.com/parkseonghee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-10800000">
            <a:off x="8928100" y="4241800"/>
            <a:ext cx="3530600" cy="1016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928100" y="5270500"/>
            <a:ext cx="4023360" cy="1016000"/>
          </a:xfrm>
          <a:prstGeom prst="rect">
            <a:avLst/>
          </a:prstGeom>
        </p:spPr>
        <p:txBody>
          <a:bodyPr lIns="0" tIns="0" rIns="0" bIns="1930" rtlCol="0" anchor="ctr"/>
          <a:lstStyle/>
          <a:p>
            <a:pPr lvl="0" algn="l">
              <a:lnSpc>
                <a:spcPct val="152886"/>
              </a:lnSpc>
            </a:pPr>
            <a:r>
              <a:rPr lang="en-US" sz="1599" b="1" i="0" u="none" strike="noStrike" dirty="0" smtClean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202</a:t>
            </a:r>
            <a:r>
              <a:rPr lang="en-US" altLang="ko-KR" sz="1599" b="1" i="0" u="none" strike="noStrike" dirty="0" smtClean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1</a:t>
            </a:r>
            <a:r>
              <a:rPr lang="en-US" sz="1599" b="0" i="0" u="none" strike="noStrike" dirty="0" smtClean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원미고등학교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졸업</a:t>
            </a:r>
            <a:endParaRPr lang="en-US" sz="1599" b="0" i="0" u="none" strike="noStrike" dirty="0">
              <a:solidFill>
                <a:srgbClr val="4E4E4E"/>
              </a:solidFill>
              <a:latin typeface="S-Core Dream 3 Light"/>
              <a:ea typeface="S-Core Dream 3 Light"/>
              <a:cs typeface="S-Core Dream 3 Light"/>
            </a:endParaRPr>
          </a:p>
          <a:p>
            <a:pPr lvl="0" algn="l">
              <a:lnSpc>
                <a:spcPct val="152886"/>
              </a:lnSpc>
            </a:pPr>
            <a:r>
              <a:rPr lang="en-US" sz="1599" b="1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2021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유한대학교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게임콘텐츠전공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입학</a:t>
            </a:r>
            <a:endParaRPr lang="en-US" sz="1599" b="0" i="0" u="none" strike="noStrike" dirty="0">
              <a:solidFill>
                <a:srgbClr val="4E4E4E"/>
              </a:solidFill>
              <a:latin typeface="S-Core Dream 3 Light"/>
              <a:ea typeface="S-Core Dream 3 Light"/>
              <a:cs typeface="S-Core Dream 3 Light"/>
            </a:endParaRPr>
          </a:p>
          <a:p>
            <a:pPr lvl="0" algn="l">
              <a:lnSpc>
                <a:spcPct val="114622"/>
              </a:lnSpc>
            </a:pPr>
            <a:r>
              <a:rPr lang="en-US" sz="1599" b="1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2027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유한대학교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게임콘텐츠전공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졸업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예정</a:t>
            </a:r>
            <a:endParaRPr lang="en-US" sz="1599" b="0" i="0" u="none" strike="noStrike" dirty="0">
              <a:solidFill>
                <a:srgbClr val="4E4E4E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-10800000">
            <a:off x="8928100" y="6616700"/>
            <a:ext cx="3530600" cy="101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928100" y="7086600"/>
            <a:ext cx="13716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5087"/>
              </a:lnSpc>
            </a:pPr>
            <a:r>
              <a:rPr lang="en-US" sz="1799" b="1" i="0" u="none" strike="noStrike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SKILL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-5400000">
            <a:off x="9486900" y="5092700"/>
            <a:ext cx="7302500" cy="1016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3728700" y="1473200"/>
            <a:ext cx="38481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5087"/>
              </a:lnSpc>
            </a:pPr>
            <a:r>
              <a:rPr lang="en-US" sz="1799" b="1" i="0" u="none" strike="noStrike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CERTIFICATE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-10800000">
            <a:off x="13728700" y="3289300"/>
            <a:ext cx="3530600" cy="1016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728700" y="3898900"/>
            <a:ext cx="37846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5087"/>
              </a:lnSpc>
            </a:pPr>
            <a:r>
              <a:rPr lang="en-US" sz="1799" b="1" i="0" u="none" strike="noStrike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PROJECT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-10800000">
            <a:off x="13728700" y="6184900"/>
            <a:ext cx="3530600" cy="1016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728700" y="6769100"/>
            <a:ext cx="37211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5087"/>
              </a:lnSpc>
            </a:pPr>
            <a:r>
              <a:rPr lang="en-US" sz="1799" b="1" i="0" u="none" strike="noStrike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GOAL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15400" y="7531100"/>
            <a:ext cx="1234440" cy="1333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2886"/>
              </a:lnSpc>
            </a:pPr>
            <a:r>
              <a:rPr lang="en-US" sz="1599" b="1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Unity · C#</a:t>
            </a:r>
          </a:p>
          <a:p>
            <a:pPr lvl="0" algn="l">
              <a:lnSpc>
                <a:spcPct val="152886"/>
              </a:lnSpc>
            </a:pPr>
            <a:r>
              <a:rPr lang="en-US" sz="1599" b="1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Photon</a:t>
            </a:r>
          </a:p>
          <a:p>
            <a:pPr lvl="0" algn="l">
              <a:lnSpc>
                <a:spcPct val="114622"/>
              </a:lnSpc>
            </a:pPr>
            <a:r>
              <a:rPr lang="en-US" sz="1599" b="1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Git</a:t>
            </a:r>
          </a:p>
          <a:p>
            <a:pPr lvl="0" algn="l">
              <a:lnSpc>
                <a:spcPct val="152886"/>
              </a:lnSpc>
            </a:pPr>
            <a:r>
              <a:rPr lang="en-US" sz="1599" b="1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Tools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15400" y="4800600"/>
            <a:ext cx="25654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5087"/>
              </a:lnSpc>
            </a:pPr>
            <a:r>
              <a:rPr lang="en-US" sz="1799" b="1" i="0" u="none" strike="noStrike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GRADUATION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28700" y="1879600"/>
            <a:ext cx="3848100" cy="1016000"/>
          </a:xfrm>
          <a:prstGeom prst="rect">
            <a:avLst/>
          </a:prstGeom>
        </p:spPr>
        <p:txBody>
          <a:bodyPr lIns="0" tIns="0" rIns="0" bIns="1930" rtlCol="0" anchor="ctr"/>
          <a:lstStyle/>
          <a:p>
            <a:pPr lvl="0" algn="l">
              <a:lnSpc>
                <a:spcPct val="152886"/>
              </a:lnSpc>
            </a:pPr>
            <a:r>
              <a:rPr lang="en-US" sz="1599" b="1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2022</a:t>
            </a: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 워드프로세서 (대한상공회의소)</a:t>
            </a:r>
          </a:p>
          <a:p>
            <a:pPr lvl="0" algn="l">
              <a:lnSpc>
                <a:spcPct val="152886"/>
              </a:lnSpc>
            </a:pPr>
            <a:r>
              <a:rPr lang="en-US" sz="1599" b="1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2023</a:t>
            </a: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 정보처리기능사 (한국산업인력공단)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28700" y="4318000"/>
            <a:ext cx="3771900" cy="1333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2886"/>
              </a:lnSpc>
            </a:pPr>
            <a:r>
              <a:rPr lang="en-US" sz="1599" b="1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2026</a:t>
            </a: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 로그타워 · STOVE 출시 (3인)</a:t>
            </a:r>
          </a:p>
          <a:p>
            <a:pPr lvl="0" algn="l">
              <a:lnSpc>
                <a:spcPct val="152886"/>
              </a:lnSpc>
            </a:pPr>
            <a:r>
              <a:rPr lang="en-US" sz="1599" b="1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2026</a:t>
            </a: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 ZooJack · itch.io 출시 (2인)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728700" y="7175500"/>
            <a:ext cx="3708400" cy="1663700"/>
          </a:xfrm>
          <a:prstGeom prst="rect">
            <a:avLst/>
          </a:prstGeom>
        </p:spPr>
        <p:txBody>
          <a:bodyPr lIns="0" tIns="0" rIns="0" bIns="1930" rtlCol="0" anchor="ctr"/>
          <a:lstStyle/>
          <a:p>
            <a:pPr lvl="0" algn="l">
              <a:lnSpc>
                <a:spcPct val="152886"/>
              </a:lnSpc>
            </a:pP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콘텐츠가 계속 쌓이는 게임의</a:t>
            </a:r>
          </a:p>
          <a:p>
            <a:pPr lvl="0" algn="l">
              <a:lnSpc>
                <a:spcPct val="152886"/>
              </a:lnSpc>
            </a:pP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시스템을 맡는</a:t>
            </a:r>
          </a:p>
          <a:p>
            <a:pPr lvl="0" algn="l">
              <a:lnSpc>
                <a:spcPct val="114622"/>
              </a:lnSpc>
            </a:pP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Unity 클라이언트 프로그래머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41280" y="7531100"/>
            <a:ext cx="2743200" cy="1333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2886"/>
              </a:lnSpc>
            </a:pP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클라이언트 개발 · 출시</a:t>
            </a:r>
          </a:p>
          <a:p>
            <a:pPr lvl="0" algn="l">
              <a:lnSpc>
                <a:spcPct val="152886"/>
              </a:lnSpc>
            </a:pP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멀티플레이 (ZooJack)</a:t>
            </a:r>
          </a:p>
          <a:p>
            <a:pPr lvl="0" algn="l">
              <a:lnSpc>
                <a:spcPct val="114622"/>
              </a:lnSpc>
            </a:pP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팀 협업 · 버전 관리</a:t>
            </a:r>
          </a:p>
          <a:p>
            <a:pPr lvl="0" algn="l">
              <a:lnSpc>
                <a:spcPct val="152886"/>
              </a:lnSpc>
            </a:pP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Unity Profiler · Claude Code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02700" y="2032000"/>
            <a:ext cx="3390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8487"/>
              </a:lnSpc>
            </a:pP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2002.07.01 /  경기 부천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60500" y="4368800"/>
            <a:ext cx="6375400" cy="182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2886"/>
              </a:lnSpc>
            </a:pPr>
            <a:r>
              <a:rPr lang="en-US" sz="1699" b="0" i="0" u="none" strike="noStrike" spc="-100">
                <a:solidFill>
                  <a:srgbClr val="9E9E9E"/>
                </a:solidFill>
                <a:latin typeface="S-Core Dream 2 ExtraLight"/>
                <a:ea typeface="S-Core Dream 2 ExtraLight"/>
                <a:cs typeface="S-Core Dream 2 ExtraLight"/>
              </a:rPr>
              <a:t>로그라이크 '로그타워'와 멀티플레이 카드 게임 'ZooJack'을 팀으로 개발해 STOVE와 itch.io에 출시했습니다.</a:t>
            </a:r>
          </a:p>
          <a:p>
            <a:pPr lvl="0" algn="l">
              <a:lnSpc>
                <a:spcPct val="152886"/>
              </a:lnSpc>
            </a:pPr>
            <a:r>
              <a:rPr lang="en-US" sz="1699" b="0" i="0" u="none" strike="noStrike" spc="-100">
                <a:solidFill>
                  <a:srgbClr val="9E9E9E"/>
                </a:solidFill>
                <a:latin typeface="S-Core Dream 2 ExtraLight"/>
                <a:ea typeface="S-Core Dream 2 ExtraLight"/>
                <a:cs typeface="S-Core Dream 2 ExtraLight"/>
              </a:rPr>
              <a:t>콘텐츠가 계속 쌓이는 게임을 데이터 분리 구조와 최적화로 안정적으로 확장하는 일에 관심이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73200" y="1409700"/>
            <a:ext cx="5448300" cy="2552700"/>
          </a:xfrm>
          <a:prstGeom prst="rect">
            <a:avLst/>
          </a:prstGeom>
        </p:spPr>
        <p:txBody>
          <a:bodyPr lIns="0" tIns="76668" rIns="0" bIns="42660" rtlCol="0" anchor="ctr"/>
          <a:lstStyle/>
          <a:p>
            <a:pPr lvl="0" algn="l">
              <a:lnSpc>
                <a:spcPct val="94868"/>
              </a:lnSpc>
            </a:pPr>
            <a:r>
              <a:rPr lang="en-US" sz="4697" b="0" i="0" u="none" strike="noStrike" spc="-200">
                <a:solidFill>
                  <a:srgbClr val="4E4E4E"/>
                </a:solidFill>
                <a:latin typeface="S-Core Dream 2 ExtraLight"/>
                <a:ea typeface="S-Core Dream 2 ExtraLight"/>
                <a:cs typeface="S-Core Dream 2 ExtraLight"/>
              </a:rPr>
              <a:t>박성희는</a:t>
            </a:r>
          </a:p>
          <a:p>
            <a:pPr lvl="0" algn="l">
              <a:lnSpc>
                <a:spcPct val="100180"/>
              </a:lnSpc>
            </a:pPr>
            <a:r>
              <a:rPr lang="en-US" sz="6361" b="0" i="0" u="none" strike="noStrike" spc="-30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어떤 능력을</a:t>
            </a:r>
          </a:p>
          <a:p>
            <a:pPr lvl="0" algn="l">
              <a:lnSpc>
                <a:spcPct val="104329"/>
              </a:lnSpc>
            </a:pPr>
            <a:r>
              <a:rPr lang="en-US" sz="4697" b="0" i="0" u="none" strike="noStrike" spc="-200">
                <a:solidFill>
                  <a:srgbClr val="4E4E4E"/>
                </a:solidFill>
                <a:latin typeface="S-Core Dream 4 Regular"/>
                <a:ea typeface="S-Core Dream 4 Regular"/>
                <a:cs typeface="S-Core Dream 4 Regular"/>
              </a:rPr>
              <a:t>가지고 있을까?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5400000">
            <a:off x="4635500" y="5105400"/>
            <a:ext cx="7302500" cy="10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5400000">
            <a:off x="9486900" y="5092700"/>
            <a:ext cx="7302500" cy="101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877300" y="1638300"/>
            <a:ext cx="38735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5087"/>
              </a:lnSpc>
            </a:pPr>
            <a:r>
              <a:rPr lang="en-US" sz="2399" b="1" i="0" u="none" strike="noStrike" dirty="0" err="1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데이터</a:t>
            </a:r>
            <a:r>
              <a:rPr lang="en-US" sz="2399" b="1" i="0" u="none" strike="noStrike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 </a:t>
            </a:r>
            <a:r>
              <a:rPr lang="en-US" sz="2399" b="1" i="0" u="none" strike="noStrike" dirty="0" err="1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분리</a:t>
            </a:r>
            <a:r>
              <a:rPr lang="en-US" sz="2399" b="1" i="0" u="none" strike="noStrike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 </a:t>
            </a:r>
            <a:r>
              <a:rPr lang="en-US" sz="2399" b="1" i="0" u="none" strike="noStrike" dirty="0" err="1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설계</a:t>
            </a:r>
            <a:endParaRPr lang="en-US" sz="2399" b="1" i="0" u="none" strike="noStrike" dirty="0">
              <a:solidFill>
                <a:srgbClr val="668EFD"/>
              </a:solidFill>
              <a:latin typeface="S-Core Dream 5 Medium"/>
              <a:ea typeface="S-Core Dream 5 Medium"/>
              <a:cs typeface="S-Core Dream 5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877300" y="2463800"/>
            <a:ext cx="38481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2886"/>
              </a:lnSpc>
            </a:pP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스킬은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ScriptableObject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,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몬스터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능력치는</a:t>
            </a:r>
            <a:endParaRPr lang="en-US" sz="1599" b="0" i="0" u="none" strike="noStrike" dirty="0">
              <a:solidFill>
                <a:srgbClr val="4E4E4E"/>
              </a:solidFill>
              <a:latin typeface="S-Core Dream 3 Light"/>
              <a:ea typeface="S-Core Dream 3 Light"/>
              <a:cs typeface="S-Core Dream 3 Light"/>
            </a:endParaRPr>
          </a:p>
          <a:p>
            <a:pPr lvl="0" algn="l">
              <a:lnSpc>
                <a:spcPct val="152886"/>
              </a:lnSpc>
            </a:pP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JSON으로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분리해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코드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수정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없이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콘텐츠</a:t>
            </a:r>
            <a:r>
              <a:rPr lang="en-US" sz="1599" b="0" i="0" u="none" strike="noStrike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1599" b="0" i="0" u="none" strike="noStrike" dirty="0" err="1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추가</a:t>
            </a:r>
            <a:endParaRPr lang="en-US" sz="1599" b="0" i="0" u="none" strike="noStrike" dirty="0">
              <a:solidFill>
                <a:srgbClr val="4E4E4E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60500" y="4368800"/>
            <a:ext cx="6375400" cy="1130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2886"/>
              </a:lnSpc>
            </a:pPr>
            <a:r>
              <a:rPr lang="en-US" sz="1699" b="0" i="0" u="none" strike="noStrike" spc="-100">
                <a:solidFill>
                  <a:srgbClr val="9E9E9E"/>
                </a:solidFill>
                <a:latin typeface="S-Core Dream 2 ExtraLight"/>
                <a:ea typeface="S-Core Dream 2 ExtraLight"/>
                <a:cs typeface="S-Core Dream 2 ExtraLight"/>
              </a:rPr>
              <a:t>출시까지 완성한 두 프로젝트에서 직접 구현하고 검증한 역량입니다.</a:t>
            </a:r>
          </a:p>
          <a:p>
            <a:pPr lvl="0" algn="l">
              <a:lnSpc>
                <a:spcPct val="152886"/>
              </a:lnSpc>
            </a:pPr>
            <a:r>
              <a:rPr lang="en-US" sz="1699" b="0" i="0" u="none" strike="noStrike" spc="-100">
                <a:solidFill>
                  <a:srgbClr val="9E9E9E"/>
                </a:solidFill>
                <a:latin typeface="S-Core Dream 2 ExtraLight"/>
                <a:ea typeface="S-Core Dream 2 ExtraLight"/>
                <a:cs typeface="S-Core Dream 2 ExtraLight"/>
              </a:rPr>
              <a:t>자세한 내용은 이어지는 프로젝트 페이지에 정리했습니다.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67700" y="5105400"/>
            <a:ext cx="8826500" cy="114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877300" y="5702300"/>
            <a:ext cx="38735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5087"/>
              </a:lnSpc>
            </a:pPr>
            <a:r>
              <a:rPr lang="en-US" sz="2399" b="1" i="0" u="none" strike="noStrike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협업 · 소통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77300" y="6286500"/>
            <a:ext cx="38481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2886"/>
              </a:lnSpc>
            </a:pP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회의 기록 채널과 레퍼런스 이미지로</a:t>
            </a:r>
          </a:p>
          <a:p>
            <a:pPr lvl="0" algn="l">
              <a:lnSpc>
                <a:spcPct val="152886"/>
              </a:lnSpc>
            </a:pP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팀의 작업 방향을 하나로 정리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752576" y="5702300"/>
            <a:ext cx="38735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5087"/>
              </a:lnSpc>
            </a:pPr>
            <a:r>
              <a:rPr lang="en-US" sz="2399" b="1" i="0" u="none" strike="noStrike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디버깅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752576" y="6286500"/>
            <a:ext cx="38481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2886"/>
              </a:lnSpc>
            </a:pP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넘겨받은 남의 코드도 끝까지 추적해</a:t>
            </a:r>
          </a:p>
          <a:p>
            <a:pPr lvl="0" algn="l">
              <a:lnSpc>
                <a:spcPct val="152886"/>
              </a:lnSpc>
            </a:pP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버그의 원인을 찾아 해결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54100" y="1866900"/>
            <a:ext cx="38735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5087"/>
              </a:lnSpc>
            </a:pPr>
            <a:r>
              <a:rPr lang="en-US" sz="2399" b="1" i="0" u="none" strike="noStrike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성능 최적화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54100" y="2463800"/>
            <a:ext cx="38481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2886"/>
              </a:lnSpc>
            </a:pP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보스 탄막 구간에 오브젝트 풀링 적용,</a:t>
            </a:r>
          </a:p>
          <a:p>
            <a:pPr lvl="0" algn="l">
              <a:lnSpc>
                <a:spcPct val="152886"/>
              </a:lnSpc>
            </a:pPr>
            <a:r>
              <a:rPr lang="en-US" sz="1599" b="0" i="0" u="none" strike="noStrike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Unity Profiler로 결과를 직접 측정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50600" y="3594100"/>
            <a:ext cx="8509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77300" y="3606800"/>
            <a:ext cx="774700" cy="850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94900" y="3695700"/>
            <a:ext cx="850900" cy="698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77300" y="7226300"/>
            <a:ext cx="2641600" cy="1155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8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00200" y="1460500"/>
            <a:ext cx="9601200" cy="2603500"/>
          </a:xfrm>
          <a:prstGeom prst="rect">
            <a:avLst/>
          </a:prstGeom>
        </p:spPr>
        <p:txBody>
          <a:bodyPr lIns="0" tIns="19354" rIns="0" bIns="0" rtlCol="0" anchor="ctr"/>
          <a:lstStyle/>
          <a:p>
            <a:pPr lvl="0" algn="l">
              <a:lnSpc>
                <a:spcPct val="105658"/>
              </a:lnSpc>
            </a:pPr>
            <a:r>
              <a:rPr lang="en-US" sz="2399" b="0" i="0" u="none" strike="noStrike" cap="all" spc="-10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Project.1</a:t>
            </a:r>
          </a:p>
          <a:p>
            <a:pPr lvl="0" algn="l">
              <a:lnSpc>
                <a:spcPct val="105658"/>
              </a:lnSpc>
            </a:pPr>
            <a:endParaRPr lang="en-US" sz="2399" b="0" i="0" u="none" strike="noStrike" cap="all" spc="-100">
              <a:solidFill>
                <a:srgbClr val="FFFFFF"/>
              </a:solidFill>
              <a:latin typeface="S-Core Dream 6 Bold"/>
              <a:ea typeface="S-Core Dream 6 Bold"/>
              <a:cs typeface="S-Core Dream 6 Bold"/>
            </a:endParaRPr>
          </a:p>
          <a:p>
            <a:pPr lvl="0" algn="l">
              <a:lnSpc>
                <a:spcPct val="90968"/>
              </a:lnSpc>
            </a:pPr>
            <a:r>
              <a:rPr lang="en-US" sz="6361" b="0" i="0" u="none" strike="noStrike" cap="all" spc="-30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로그타워</a:t>
            </a:r>
          </a:p>
          <a:p>
            <a:pPr lvl="0" algn="l">
              <a:lnSpc>
                <a:spcPct val="132302"/>
              </a:lnSpc>
            </a:pPr>
            <a:r>
              <a:rPr lang="en-US" sz="4697" b="0" i="0" u="none" strike="noStrike" cap="all" spc="-200">
                <a:solidFill>
                  <a:srgbClr val="FFFFFF"/>
                </a:solidFill>
                <a:latin typeface="S-Core Dream 3 Light"/>
                <a:ea typeface="S-Core Dream 3 Light"/>
                <a:cs typeface="S-Core Dream 3 Light"/>
              </a:rPr>
              <a:t>RogueTower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0800000">
            <a:off x="13093700" y="6184900"/>
            <a:ext cx="3492500" cy="10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788900" y="6769100"/>
            <a:ext cx="3860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65087"/>
              </a:lnSpc>
            </a:pPr>
            <a:r>
              <a:rPr lang="en-US" sz="1799" b="1" i="0" u="none" strike="noStrike">
                <a:solidFill>
                  <a:srgbClr val="FFFFFF"/>
                </a:solidFill>
                <a:latin typeface="S-Core Dream 5 Medium"/>
                <a:ea typeface="S-Core Dream 5 Medium"/>
                <a:cs typeface="S-Core Dream 5 Medium"/>
              </a:rPr>
              <a:t>ABOUT PROJECT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9700" y="1384300"/>
            <a:ext cx="5676900" cy="3911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890500" y="7404100"/>
            <a:ext cx="3848100" cy="1828800"/>
          </a:xfrm>
          <a:prstGeom prst="rect">
            <a:avLst/>
          </a:prstGeom>
        </p:spPr>
        <p:txBody>
          <a:bodyPr lIns="0" tIns="0" rIns="0" bIns="1689" rtlCol="0" anchor="ctr"/>
          <a:lstStyle/>
          <a:p>
            <a:pPr lvl="0" algn="r">
              <a:lnSpc>
                <a:spcPct val="152886"/>
              </a:lnSpc>
            </a:pPr>
            <a:r>
              <a:rPr lang="en-US" sz="1399" b="0" i="0" u="none" strike="noStrike">
                <a:solidFill>
                  <a:srgbClr val="FFFFFF"/>
                </a:solidFill>
                <a:latin typeface="S-Core Dream 3 Light"/>
                <a:ea typeface="S-Core Dream 3 Light"/>
                <a:cs typeface="S-Core Dream 3 Light"/>
              </a:rPr>
              <a:t>3인 팀 · 약 3.5개월</a:t>
            </a:r>
          </a:p>
          <a:p>
            <a:pPr lvl="0" algn="r">
              <a:lnSpc>
                <a:spcPct val="152886"/>
              </a:lnSpc>
            </a:pPr>
            <a:r>
              <a:rPr lang="en-US" sz="1399" b="0" i="0" u="none" strike="noStrike">
                <a:solidFill>
                  <a:srgbClr val="FFFFFF"/>
                </a:solidFill>
                <a:latin typeface="S-Core Dream 3 Light"/>
                <a:ea typeface="S-Core Dream 3 Light"/>
                <a:cs typeface="S-Core Dream 3 Light"/>
              </a:rPr>
              <a:t>STOVE 출시 (2026.04.28)</a:t>
            </a:r>
          </a:p>
          <a:p>
            <a:pPr lvl="0" algn="r">
              <a:lnSpc>
                <a:spcPct val="114622"/>
              </a:lnSpc>
            </a:pPr>
            <a:endParaRPr lang="en-US" sz="1399" b="0" i="0" u="none" strike="noStrike">
              <a:solidFill>
                <a:srgbClr val="FFFFFF"/>
              </a:solidFill>
              <a:latin typeface="S-Core Dream 3 Light"/>
              <a:ea typeface="S-Core Dream 3 Light"/>
              <a:cs typeface="S-Core Dream 3 Light"/>
            </a:endParaRPr>
          </a:p>
          <a:p>
            <a:pPr lvl="0" algn="r">
              <a:lnSpc>
                <a:spcPct val="152886"/>
              </a:lnSpc>
            </a:pPr>
            <a:r>
              <a:rPr lang="en-US" sz="1399" b="0" i="0" u="none" strike="noStrike">
                <a:solidFill>
                  <a:srgbClr val="FFFFFF"/>
                </a:solidFill>
                <a:latin typeface="S-Core Dream 3 Light"/>
                <a:ea typeface="S-Core Dream 3 Light"/>
                <a:cs typeface="S-Core Dream 3 Light"/>
              </a:rPr>
              <a:t>담당</a:t>
            </a:r>
          </a:p>
          <a:p>
            <a:pPr lvl="0" algn="r">
              <a:lnSpc>
                <a:spcPct val="114622"/>
              </a:lnSpc>
            </a:pPr>
            <a:r>
              <a:rPr lang="en-US" sz="1399" b="0" i="0" u="none" strike="noStrike">
                <a:solidFill>
                  <a:srgbClr val="FFFFFF"/>
                </a:solidFill>
                <a:latin typeface="S-Core Dream 3 Light"/>
                <a:ea typeface="S-Core Dream 3 Light"/>
                <a:cs typeface="S-Core Dream 3 Light"/>
              </a:rPr>
              <a:t>스킬 · 맵 · 상자 · 상점 · 인벤토리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 101"/>
          <p:cNvSpPr txBox="1"/>
          <p:nvPr/>
        </p:nvSpPr>
        <p:spPr>
          <a:xfrm>
            <a:off x="1463040" y="777240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spc="1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PROJECT 01  ·  ROGUETOWER</a:t>
            </a:r>
          </a:p>
        </p:txBody>
      </p:sp>
      <p:sp>
        <p:nvSpPr>
          <p:cNvPr id="102" name="Title 102"/>
          <p:cNvSpPr txBox="1"/>
          <p:nvPr/>
        </p:nvSpPr>
        <p:spPr>
          <a:xfrm>
            <a:off x="1463040" y="1188720"/>
            <a:ext cx="15361920" cy="64008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400" dirty="0">
                <a:solidFill>
                  <a:srgbClr val="668EFD"/>
                </a:solidFill>
                <a:latin typeface="S-Core Dream 7 ExtraBold"/>
                <a:ea typeface="S-Core Dream 7 ExtraBold"/>
                <a:cs typeface="S-Core Dream 7 ExtraBold"/>
              </a:rPr>
              <a:t>게임 소개</a:t>
            </a:r>
          </a:p>
        </p:txBody>
      </p:sp>
      <p:sp>
        <p:nvSpPr>
          <p:cNvPr id="103" name="Subtitle 103"/>
          <p:cNvSpPr txBox="1"/>
          <p:nvPr/>
        </p:nvSpPr>
        <p:spPr>
          <a:xfrm>
            <a:off x="1463040" y="1938528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절차적으로 생성되는 던전에서 스킬과 장비를 조합해 보스까지 살아남는 로그라이크 액션</a:t>
            </a:r>
          </a:p>
        </p:txBody>
      </p:sp>
      <p:sp>
        <p:nvSpPr>
          <p:cNvPr id="105" name="Caption 105"/>
          <p:cNvSpPr txBox="1"/>
          <p:nvPr/>
        </p:nvSpPr>
        <p:spPr>
          <a:xfrm>
            <a:off x="1463040" y="8015302"/>
            <a:ext cx="87782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9E9E9E"/>
                </a:solidFill>
                <a:latin typeface="S-Core Dream 3 Light"/>
                <a:ea typeface="S-Core Dream 3 Light"/>
                <a:cs typeface="S-Core Dream 3 Light"/>
              </a:rPr>
              <a:t>▶ 실제 플레이 화면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10972800" y="297180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장르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12573000" y="2971800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액션 로그라이크 (액션 · 전략)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10972800" y="352044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엔진 · 언어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12573000" y="3520440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Unity 6 / C#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10972800" y="406908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개발 기간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12573000" y="4069080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약 3.5개월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10972800" y="461772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팀 구성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12573000" y="4617720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3인 (본인 포함)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10972800" y="516636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출시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12573000" y="5166360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STOVE · 2026.04.28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10972800" y="571500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담당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12573000" y="5715000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스킬 · 맵 · 상자 · 상점 · 인벤토리</a:t>
            </a:r>
          </a:p>
        </p:txBody>
      </p:sp>
      <p:sp>
        <p:nvSpPr>
          <p:cNvPr id="118" name="Divider 118"/>
          <p:cNvSpPr/>
          <p:nvPr/>
        </p:nvSpPr>
        <p:spPr>
          <a:xfrm>
            <a:off x="10972800" y="6446520"/>
            <a:ext cx="5852160" cy="18288"/>
          </a:xfrm>
          <a:prstGeom prst="rect">
            <a:avLst/>
          </a:prstGeom>
          <a:solidFill>
            <a:srgbClr val="E3E6EE"/>
          </a:solidFill>
          <a:ln>
            <a:noFill/>
          </a:ln>
        </p:spPr>
      </p:sp>
      <p:sp>
        <p:nvSpPr>
          <p:cNvPr id="119" name="Link 119"/>
          <p:cNvSpPr txBox="1"/>
          <p:nvPr/>
        </p:nvSpPr>
        <p:spPr>
          <a:xfrm>
            <a:off x="10972800" y="6720840"/>
            <a:ext cx="585216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STOVE   </a:t>
            </a:r>
            <a:r>
              <a:rPr lang="ko-KR" altLang="en-US" sz="14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  <a:hlinkClick r:id="rId2"/>
              </a:rPr>
              <a:t>store.onstove.com/ko/games/104398</a:t>
            </a:r>
          </a:p>
        </p:txBody>
      </p:sp>
      <p:sp>
        <p:nvSpPr>
          <p:cNvPr id="120" name="Link 120"/>
          <p:cNvSpPr txBox="1"/>
          <p:nvPr/>
        </p:nvSpPr>
        <p:spPr>
          <a:xfrm>
            <a:off x="10972800" y="7178040"/>
            <a:ext cx="585216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GitHub   </a:t>
            </a:r>
            <a:r>
              <a:rPr lang="ko-KR" altLang="en-US" sz="14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  <a:hlinkClick r:id="rId3"/>
              </a:rPr>
              <a:t>github.com/parkseonghee/roguetower-portfolio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920807"/>
            <a:ext cx="8337091" cy="46610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 101"/>
          <p:cNvSpPr txBox="1"/>
          <p:nvPr/>
        </p:nvSpPr>
        <p:spPr>
          <a:xfrm>
            <a:off x="1463040" y="777240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spc="1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PROJECT 01  ·  ROGUETOWER</a:t>
            </a:r>
          </a:p>
        </p:txBody>
      </p:sp>
      <p:sp>
        <p:nvSpPr>
          <p:cNvPr id="102" name="Title 102"/>
          <p:cNvSpPr txBox="1"/>
          <p:nvPr/>
        </p:nvSpPr>
        <p:spPr>
          <a:xfrm>
            <a:off x="1463040" y="1188720"/>
            <a:ext cx="15361920" cy="64008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400" dirty="0">
                <a:solidFill>
                  <a:srgbClr val="668EFD"/>
                </a:solidFill>
                <a:latin typeface="S-Core Dream 7 ExtraBold"/>
                <a:ea typeface="S-Core Dream 7 ExtraBold"/>
                <a:cs typeface="S-Core Dream 7 ExtraBold"/>
              </a:rPr>
              <a:t>스킬 시스템</a:t>
            </a:r>
          </a:p>
        </p:txBody>
      </p:sp>
      <p:sp>
        <p:nvSpPr>
          <p:cNvPr id="103" name="Subtitle 103"/>
          <p:cNvSpPr txBox="1"/>
          <p:nvPr/>
        </p:nvSpPr>
        <p:spPr>
          <a:xfrm>
            <a:off x="1463040" y="1938528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ScriptableObject로 스킬을 데이터로 분리해, 코드 수정 없이 스킬 추가와 밸런스 조정이 가능합니다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1463040" y="2926080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예시  ·  스나이퍼 스킬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1463040" y="3474720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6 Bold"/>
                <a:ea typeface="S-Core Dream 6 Bold"/>
                <a:cs typeface="S-Core Dream 6 Bold"/>
              </a:rPr>
              <a:t>1레벨   </a:t>
            </a: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Q 키 → 적을 관통하는 총알 발사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6 Bold"/>
                <a:ea typeface="S-Core Dream 6 Bold"/>
                <a:cs typeface="S-Core Dream 6 Bold"/>
              </a:rPr>
              <a:t>2레벨   </a:t>
            </a: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성장 시 강력한 한 발 (스나이퍼 모드)</a:t>
            </a:r>
          </a:p>
        </p:txBody>
      </p:sp>
      <p:pic>
        <p:nvPicPr>
          <p:cNvPr id="106" name="Picture 106" descr="skill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617720"/>
            <a:ext cx="6766560" cy="3786304"/>
          </a:xfrm>
          <a:prstGeom prst="rect">
            <a:avLst/>
          </a:prstGeom>
          <a:ln w="9525">
            <a:solidFill>
              <a:srgbClr val="E3E6EE"/>
            </a:solidFill>
          </a:ln>
        </p:spPr>
      </p:pic>
      <p:sp>
        <p:nvSpPr>
          <p:cNvPr id="107" name="Caption 107"/>
          <p:cNvSpPr txBox="1"/>
          <p:nvPr/>
        </p:nvSpPr>
        <p:spPr>
          <a:xfrm>
            <a:off x="1463040" y="8541184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9E9E9E"/>
                </a:solidFill>
                <a:latin typeface="S-Core Dream 3 Light"/>
                <a:ea typeface="S-Core Dream 3 Light"/>
                <a:cs typeface="S-Core Dream 3 Light"/>
              </a:rPr>
              <a:t>▶ 스킬 발동 화면</a:t>
            </a:r>
          </a:p>
        </p:txBody>
      </p:sp>
      <p:pic>
        <p:nvPicPr>
          <p:cNvPr id="108" name="Picture 108" descr="skillda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628900"/>
            <a:ext cx="6355080" cy="3543300"/>
          </a:xfrm>
          <a:prstGeom prst="rect">
            <a:avLst/>
          </a:prstGeom>
          <a:ln w="9525">
            <a:solidFill>
              <a:srgbClr val="E3E6EE"/>
            </a:solidFill>
          </a:ln>
        </p:spPr>
      </p:pic>
      <p:sp>
        <p:nvSpPr>
          <p:cNvPr id="109" name="Caption 109"/>
          <p:cNvSpPr txBox="1"/>
          <p:nvPr/>
        </p:nvSpPr>
        <p:spPr>
          <a:xfrm>
            <a:off x="8961120" y="6281928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9E9E9E"/>
                </a:solidFill>
                <a:latin typeface="S-Core Dream 3 Light"/>
                <a:ea typeface="S-Core Dream 3 Light"/>
                <a:cs typeface="S-Core Dream 3 Light"/>
              </a:rPr>
              <a:t>SkillData.cs  —  ScriptableObject 스킬 정의</a:t>
            </a:r>
          </a:p>
        </p:txBody>
      </p:sp>
      <p:pic>
        <p:nvPicPr>
          <p:cNvPr id="110" name="Picture 110" descr="skillmg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6675120"/>
            <a:ext cx="7863840" cy="2412966"/>
          </a:xfrm>
          <a:prstGeom prst="rect">
            <a:avLst/>
          </a:prstGeom>
          <a:ln w="9525">
            <a:solidFill>
              <a:srgbClr val="E3E6EE"/>
            </a:solidFill>
          </a:ln>
        </p:spPr>
      </p:pic>
      <p:sp>
        <p:nvSpPr>
          <p:cNvPr id="111" name="Caption 111"/>
          <p:cNvSpPr txBox="1"/>
          <p:nvPr/>
        </p:nvSpPr>
        <p:spPr>
          <a:xfrm>
            <a:off x="8961120" y="9197814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9E9E9E"/>
                </a:solidFill>
                <a:latin typeface="S-Core Dream 3 Light"/>
                <a:ea typeface="S-Core Dream 3 Light"/>
                <a:cs typeface="S-Core Dream 3 Light"/>
              </a:rPr>
              <a:t>SkillManager.cs  —  조건 충족 시 레벨 해금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 101"/>
          <p:cNvSpPr txBox="1"/>
          <p:nvPr/>
        </p:nvSpPr>
        <p:spPr>
          <a:xfrm>
            <a:off x="1463040" y="777240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spc="1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PROJECT 01  ·  ROGUETOWER</a:t>
            </a:r>
          </a:p>
        </p:txBody>
      </p:sp>
      <p:sp>
        <p:nvSpPr>
          <p:cNvPr id="102" name="Title 102"/>
          <p:cNvSpPr txBox="1"/>
          <p:nvPr/>
        </p:nvSpPr>
        <p:spPr>
          <a:xfrm>
            <a:off x="1463040" y="1188720"/>
            <a:ext cx="15361920" cy="64008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400" dirty="0">
                <a:solidFill>
                  <a:srgbClr val="668EFD"/>
                </a:solidFill>
                <a:latin typeface="S-Core Dream 7 ExtraBold"/>
                <a:ea typeface="S-Core Dream 7 ExtraBold"/>
                <a:cs typeface="S-Core Dream 7 ExtraBold"/>
              </a:rPr>
              <a:t>맵 시스템</a:t>
            </a:r>
          </a:p>
        </p:txBody>
      </p:sp>
      <p:sp>
        <p:nvSpPr>
          <p:cNvPr id="103" name="Subtitle 103"/>
          <p:cNvSpPr txBox="1"/>
          <p:nvPr/>
        </p:nvSpPr>
        <p:spPr>
          <a:xfrm>
            <a:off x="1463040" y="1938528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층마다 미리 만든 맵 중 하나를 무작위로 불러오고, 몬스터를 모두 처치하면 다음 층 문이 열립니다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1463040" y="763524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구조를 바꾼 이유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1463040" y="8092440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처음에는 20개 층을 하나씩 손으로 만들 계획이었지만, 일정과 아이디어가 부족해진다는 기획자의 제안을 받아 미리 만든 맵을 무작위로 불러오는 방식으로 바꿨습니다.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10058400" y="2926080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한 층이 진행되는 순서</a:t>
            </a:r>
          </a:p>
        </p:txBody>
      </p:sp>
      <p:sp>
        <p:nvSpPr>
          <p:cNvPr id="108" name="StepNum 108"/>
          <p:cNvSpPr/>
          <p:nvPr/>
        </p:nvSpPr>
        <p:spPr>
          <a:xfrm>
            <a:off x="10058400" y="3520440"/>
            <a:ext cx="457200" cy="45720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1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10744200" y="3538728"/>
            <a:ext cx="60807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맵 생성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10744200" y="4023360"/>
            <a:ext cx="6080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1~9층은 맵 목록에서 무작위 선택, 10층은 보스 맵</a:t>
            </a:r>
          </a:p>
        </p:txBody>
      </p:sp>
      <p:sp>
        <p:nvSpPr>
          <p:cNvPr id="111" name="StepNum 111"/>
          <p:cNvSpPr/>
          <p:nvPr/>
        </p:nvSpPr>
        <p:spPr>
          <a:xfrm>
            <a:off x="10058400" y="4389120"/>
            <a:ext cx="457200" cy="45720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2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10744200" y="4407408"/>
            <a:ext cx="60807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길 찾기 준비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10744200" y="4892040"/>
            <a:ext cx="6080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맵이 만들어진 뒤 몬스터 이동 경로(NavMesh)를 계산</a:t>
            </a:r>
          </a:p>
        </p:txBody>
      </p:sp>
      <p:sp>
        <p:nvSpPr>
          <p:cNvPr id="114" name="StepNum 114"/>
          <p:cNvSpPr/>
          <p:nvPr/>
        </p:nvSpPr>
        <p:spPr>
          <a:xfrm>
            <a:off x="10058400" y="5257800"/>
            <a:ext cx="457200" cy="45720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3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10744200" y="5276088"/>
            <a:ext cx="60807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몬스터 배치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10744200" y="5760720"/>
            <a:ext cx="6080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스폰 위치마다 몬스터 종류를 무작위로 골라 배치</a:t>
            </a:r>
          </a:p>
        </p:txBody>
      </p:sp>
      <p:sp>
        <p:nvSpPr>
          <p:cNvPr id="117" name="StepNum 117"/>
          <p:cNvSpPr/>
          <p:nvPr/>
        </p:nvSpPr>
        <p:spPr>
          <a:xfrm>
            <a:off x="10058400" y="6126480"/>
            <a:ext cx="457200" cy="45720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4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10744200" y="6144768"/>
            <a:ext cx="60807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클리어 판정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10744200" y="6629400"/>
            <a:ext cx="60807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몬스터를 모두 처치하면 보상과 함께 다음 층 문이 열림</a:t>
            </a:r>
          </a:p>
        </p:txBody>
      </p:sp>
      <p:pic>
        <p:nvPicPr>
          <p:cNvPr id="120" name="Picture 120" descr="map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00"/>
            <a:ext cx="6766560" cy="1920240"/>
          </a:xfrm>
          <a:prstGeom prst="rect">
            <a:avLst/>
          </a:prstGeom>
          <a:ln w="9525">
            <a:solidFill>
              <a:srgbClr val="E3E6EE"/>
            </a:solidFill>
          </a:ln>
        </p:spPr>
      </p:pic>
      <p:sp>
        <p:nvSpPr>
          <p:cNvPr id="122" name="Caption 122"/>
          <p:cNvSpPr txBox="1"/>
          <p:nvPr/>
        </p:nvSpPr>
        <p:spPr>
          <a:xfrm>
            <a:off x="10058400" y="9345168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9E9E9E"/>
                </a:solidFill>
                <a:latin typeface="S-Core Dream 3 Light"/>
                <a:ea typeface="S-Core Dream 3 Light"/>
                <a:cs typeface="S-Core Dream 3 Light"/>
              </a:rPr>
              <a:t>MapManager.cs  —  10층은 보스 맵, 1~9층은 일반 맵 중 무작위 선택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987009"/>
            <a:ext cx="7300046" cy="40813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 101"/>
          <p:cNvSpPr txBox="1"/>
          <p:nvPr/>
        </p:nvSpPr>
        <p:spPr>
          <a:xfrm>
            <a:off x="1463040" y="777240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spc="1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PROJECT 01  ·  ROGUETOWER</a:t>
            </a:r>
          </a:p>
        </p:txBody>
      </p:sp>
      <p:sp>
        <p:nvSpPr>
          <p:cNvPr id="102" name="Title 102"/>
          <p:cNvSpPr txBox="1"/>
          <p:nvPr/>
        </p:nvSpPr>
        <p:spPr>
          <a:xfrm>
            <a:off x="1463040" y="1188720"/>
            <a:ext cx="15361920" cy="64008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400" dirty="0">
                <a:solidFill>
                  <a:srgbClr val="668EFD"/>
                </a:solidFill>
                <a:latin typeface="S-Core Dream 7 ExtraBold"/>
                <a:ea typeface="S-Core Dream 7 ExtraBold"/>
                <a:cs typeface="S-Core Dream 7 ExtraBold"/>
              </a:rPr>
              <a:t>데이터 설계 &amp; 최적화</a:t>
            </a:r>
          </a:p>
        </p:txBody>
      </p:sp>
      <p:sp>
        <p:nvSpPr>
          <p:cNvPr id="103" name="Subtitle 103"/>
          <p:cNvSpPr txBox="1"/>
          <p:nvPr/>
        </p:nvSpPr>
        <p:spPr>
          <a:xfrm>
            <a:off x="1463040" y="1938528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함께 일하는 기획자와, 무거운 전투 구간을 위해 만든 구조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1463040" y="29260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JSON 데이터 분리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1463040" y="352044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몬스터 능력치를 코드에 하드코딩하지 않고 JSON으로 분리했습니다. 기획자가 코드 수정 없이 밸런스를 조절할 수 있는 구조입니다.</a:t>
            </a:r>
          </a:p>
        </p:txBody>
      </p:sp>
      <p:pic>
        <p:nvPicPr>
          <p:cNvPr id="106" name="Picture 106" descr="j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709160"/>
            <a:ext cx="5596251" cy="4023360"/>
          </a:xfrm>
          <a:prstGeom prst="rect">
            <a:avLst/>
          </a:prstGeom>
          <a:ln w="9525">
            <a:solidFill>
              <a:srgbClr val="E3E6EE"/>
            </a:solidFill>
          </a:ln>
        </p:spPr>
      </p:pic>
      <p:sp>
        <p:nvSpPr>
          <p:cNvPr id="107" name="Caption 107"/>
          <p:cNvSpPr txBox="1"/>
          <p:nvPr/>
        </p:nvSpPr>
        <p:spPr>
          <a:xfrm>
            <a:off x="1463040" y="884224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9E9E9E"/>
                </a:solidFill>
                <a:latin typeface="S-Core Dream 3 Light"/>
                <a:ea typeface="S-Core Dream 3 Light"/>
                <a:cs typeface="S-Core Dream 3 Light"/>
              </a:rPr>
              <a:t>MonsterStat.json  ·  DataManager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9509760" y="29260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오브젝트 풀링 (최적화)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9509760" y="352044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보스 탄막처럼 부하가 큰 구간에서 생성·파괴 비용을 줄여 프레임 저하를 막았습니다.</a:t>
            </a:r>
          </a:p>
        </p:txBody>
      </p:sp>
      <p:pic>
        <p:nvPicPr>
          <p:cNvPr id="110" name="Picture 110" descr="po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4709160"/>
            <a:ext cx="5423717" cy="4023360"/>
          </a:xfrm>
          <a:prstGeom prst="rect">
            <a:avLst/>
          </a:prstGeom>
          <a:ln w="9525">
            <a:solidFill>
              <a:srgbClr val="E3E6EE"/>
            </a:solidFill>
          </a:ln>
        </p:spPr>
      </p:pic>
      <p:sp>
        <p:nvSpPr>
          <p:cNvPr id="111" name="Caption 111"/>
          <p:cNvSpPr txBox="1"/>
          <p:nvPr/>
        </p:nvSpPr>
        <p:spPr>
          <a:xfrm>
            <a:off x="9509760" y="884224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9E9E9E"/>
                </a:solidFill>
                <a:latin typeface="S-Core Dream 3 Light"/>
                <a:ea typeface="S-Core Dream 3 Light"/>
                <a:cs typeface="S-Core Dream 3 Light"/>
              </a:rPr>
              <a:t>PoolManager.cs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 101"/>
          <p:cNvSpPr txBox="1"/>
          <p:nvPr/>
        </p:nvSpPr>
        <p:spPr>
          <a:xfrm>
            <a:off x="1463040" y="777240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spc="1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PROJECT 01  ·  ROGUETOWER</a:t>
            </a:r>
          </a:p>
        </p:txBody>
      </p:sp>
      <p:sp>
        <p:nvSpPr>
          <p:cNvPr id="102" name="Title 102"/>
          <p:cNvSpPr txBox="1"/>
          <p:nvPr/>
        </p:nvSpPr>
        <p:spPr>
          <a:xfrm>
            <a:off x="1463040" y="1188720"/>
            <a:ext cx="15361920" cy="64008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400" dirty="0">
                <a:solidFill>
                  <a:srgbClr val="668EFD"/>
                </a:solidFill>
                <a:latin typeface="S-Core Dream 7 ExtraBold"/>
                <a:ea typeface="S-Core Dream 7 ExtraBold"/>
                <a:cs typeface="S-Core Dream 7 ExtraBold"/>
              </a:rPr>
              <a:t>성능 실측 결과</a:t>
            </a:r>
          </a:p>
        </p:txBody>
      </p:sp>
      <p:sp>
        <p:nvSpPr>
          <p:cNvPr id="103" name="Subtitle 103"/>
          <p:cNvSpPr txBox="1"/>
          <p:nvPr/>
        </p:nvSpPr>
        <p:spPr>
          <a:xfrm>
            <a:off x="1463040" y="1938528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Unity Profiler로 직접 측정  ·  최대 스택 나선 탄막 패턴 기준</a:t>
            </a:r>
          </a:p>
        </p:txBody>
      </p:sp>
      <p:pic>
        <p:nvPicPr>
          <p:cNvPr id="104" name="Picture 104" descr="per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926080"/>
            <a:ext cx="7680960" cy="5760720"/>
          </a:xfrm>
          <a:prstGeom prst="rect">
            <a:avLst/>
          </a:prstGeom>
          <a:ln w="9525">
            <a:solidFill>
              <a:srgbClr val="E3E6EE"/>
            </a:solidFill>
          </a:ln>
        </p:spPr>
      </p:pic>
      <p:sp>
        <p:nvSpPr>
          <p:cNvPr id="105" name="Caption 105"/>
          <p:cNvSpPr txBox="1"/>
          <p:nvPr/>
        </p:nvSpPr>
        <p:spPr>
          <a:xfrm>
            <a:off x="1463040" y="8796528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9E9E9E"/>
                </a:solidFill>
                <a:latin typeface="S-Core Dream 3 Light"/>
                <a:ea typeface="S-Core Dream 3 Light"/>
                <a:cs typeface="S-Core Dream 3 Light"/>
              </a:rPr>
              <a:t>Unity Profiler 측정 화면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9966960" y="292608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동시 활성 탄막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9966960" y="329184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dirty="0">
                <a:solidFill>
                  <a:srgbClr val="668EFD"/>
                </a:solidFill>
                <a:latin typeface="S-Core Dream 7 ExtraBold"/>
                <a:ea typeface="S-Core Dream 7 ExtraBold"/>
                <a:cs typeface="S-Core Dream 7 ExtraBold"/>
              </a:rPr>
              <a:t>166개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9966960" y="409651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실측 피크 — 대량 탄막에도 안정 유지</a:t>
            </a:r>
          </a:p>
        </p:txBody>
      </p:sp>
      <p:sp>
        <p:nvSpPr>
          <p:cNvPr id="109" name="Divider 109"/>
          <p:cNvSpPr/>
          <p:nvPr/>
        </p:nvSpPr>
        <p:spPr>
          <a:xfrm>
            <a:off x="9966960" y="4462272"/>
            <a:ext cx="6858000" cy="18288"/>
          </a:xfrm>
          <a:prstGeom prst="rect">
            <a:avLst/>
          </a:prstGeom>
          <a:solidFill>
            <a:srgbClr val="E3E6EE"/>
          </a:solidFill>
          <a:ln>
            <a:noFill/>
          </a:ln>
        </p:spPr>
      </p:sp>
      <p:sp>
        <p:nvSpPr>
          <p:cNvPr id="110" name="Text 110"/>
          <p:cNvSpPr txBox="1"/>
          <p:nvPr/>
        </p:nvSpPr>
        <p:spPr>
          <a:xfrm>
            <a:off x="9966960" y="452628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GPU 프레임 타임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9966960" y="489204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dirty="0">
                <a:solidFill>
                  <a:srgbClr val="668EFD"/>
                </a:solidFill>
                <a:latin typeface="S-Core Dream 7 ExtraBold"/>
                <a:ea typeface="S-Core Dream 7 ExtraBold"/>
                <a:cs typeface="S-Core Dream 7 ExtraBold"/>
              </a:rPr>
              <a:t>2.9ms → 4.7ms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9966960" y="569671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평상시 → 최대 부하 (+62%)</a:t>
            </a:r>
          </a:p>
        </p:txBody>
      </p:sp>
      <p:sp>
        <p:nvSpPr>
          <p:cNvPr id="113" name="Divider 113"/>
          <p:cNvSpPr/>
          <p:nvPr/>
        </p:nvSpPr>
        <p:spPr>
          <a:xfrm>
            <a:off x="9966960" y="6062472"/>
            <a:ext cx="6858000" cy="18288"/>
          </a:xfrm>
          <a:prstGeom prst="rect">
            <a:avLst/>
          </a:prstGeom>
          <a:solidFill>
            <a:srgbClr val="E3E6EE"/>
          </a:solidFill>
          <a:ln>
            <a:noFill/>
          </a:ln>
        </p:spPr>
      </p:sp>
      <p:sp>
        <p:nvSpPr>
          <p:cNvPr id="114" name="Text 114"/>
          <p:cNvSpPr txBox="1"/>
          <p:nvPr/>
        </p:nvSpPr>
        <p:spPr>
          <a:xfrm>
            <a:off x="9966960" y="612648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오브젝트 풀 크기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9966960" y="649224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dirty="0">
                <a:solidFill>
                  <a:srgbClr val="668EFD"/>
                </a:solidFill>
                <a:latin typeface="S-Core Dream 7 ExtraBold"/>
                <a:ea typeface="S-Core Dream 7 ExtraBold"/>
                <a:cs typeface="S-Core Dream 7 ExtraBold"/>
              </a:rPr>
              <a:t>40 → 228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9966960" y="729691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사전 생성 후 동적 확장 (Instantiate 188회)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 101"/>
          <p:cNvSpPr txBox="1"/>
          <p:nvPr/>
        </p:nvSpPr>
        <p:spPr>
          <a:xfrm>
            <a:off x="1463040" y="777240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spc="1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PROJECT 01  ·  ROGUETOWER</a:t>
            </a:r>
          </a:p>
        </p:txBody>
      </p:sp>
      <p:sp>
        <p:nvSpPr>
          <p:cNvPr id="102" name="Title 102"/>
          <p:cNvSpPr txBox="1"/>
          <p:nvPr/>
        </p:nvSpPr>
        <p:spPr>
          <a:xfrm>
            <a:off x="1463040" y="1188720"/>
            <a:ext cx="15361920" cy="64008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400" dirty="0">
                <a:solidFill>
                  <a:srgbClr val="668EFD"/>
                </a:solidFill>
                <a:latin typeface="S-Core Dream 7 ExtraBold"/>
                <a:ea typeface="S-Core Dream 7 ExtraBold"/>
                <a:cs typeface="S-Core Dream 7 ExtraBold"/>
              </a:rPr>
              <a:t>트러블슈팅</a:t>
            </a:r>
          </a:p>
        </p:txBody>
      </p:sp>
      <p:sp>
        <p:nvSpPr>
          <p:cNvPr id="103" name="Subtitle 103"/>
          <p:cNvSpPr txBox="1"/>
          <p:nvPr/>
        </p:nvSpPr>
        <p:spPr>
          <a:xfrm>
            <a:off x="1463040" y="1938528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인벤토리 능력치 연결 버그</a:t>
            </a:r>
          </a:p>
        </p:txBody>
      </p:sp>
      <p:sp>
        <p:nvSpPr>
          <p:cNvPr id="104" name="StepNum 104"/>
          <p:cNvSpPr/>
          <p:nvPr/>
        </p:nvSpPr>
        <p:spPr>
          <a:xfrm>
            <a:off x="1463040" y="2926080"/>
            <a:ext cx="457200" cy="45720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1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2148840" y="2944368"/>
            <a:ext cx="62636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문제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2148840" y="3429000"/>
            <a:ext cx="6263640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장비를 장착해도 공격력·이동속도가 오르지 않음. 다른 팀원이 만들던 인벤토리를 넘겨받은 상태라 원인이 한눈에 보이지 않음.</a:t>
            </a:r>
          </a:p>
        </p:txBody>
      </p:sp>
      <p:sp>
        <p:nvSpPr>
          <p:cNvPr id="107" name="StepNum 107"/>
          <p:cNvSpPr/>
          <p:nvPr/>
        </p:nvSpPr>
        <p:spPr>
          <a:xfrm>
            <a:off x="1463040" y="4709160"/>
            <a:ext cx="457200" cy="45720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2148840" y="4727448"/>
            <a:ext cx="62636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원인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2148840" y="5212080"/>
            <a:ext cx="626364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장비 능력치를 캐릭터가 읽지 않는 attackScript(인벤토리 공격력)에 저장하고 있었음.</a:t>
            </a:r>
          </a:p>
        </p:txBody>
      </p:sp>
      <p:sp>
        <p:nvSpPr>
          <p:cNvPr id="110" name="StepNum 110"/>
          <p:cNvSpPr/>
          <p:nvPr/>
        </p:nvSpPr>
        <p:spPr>
          <a:xfrm>
            <a:off x="1463040" y="6263640"/>
            <a:ext cx="457200" cy="45720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3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2148840" y="6281928"/>
            <a:ext cx="62636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해결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2148840" y="6766560"/>
            <a:ext cx="6263640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캐릭터가 실제로 읽는 playerScript 변수에 '인벤토리 공격력 + 플레이어 공격력' 최종값을 전달하도록 수정.</a:t>
            </a:r>
          </a:p>
        </p:txBody>
      </p:sp>
      <p:sp>
        <p:nvSpPr>
          <p:cNvPr id="113" name="KeyPoint 113"/>
          <p:cNvSpPr/>
          <p:nvPr/>
        </p:nvSpPr>
        <p:spPr>
          <a:xfrm>
            <a:off x="1463040" y="8092440"/>
            <a:ext cx="6949440" cy="1051560"/>
          </a:xfrm>
          <a:prstGeom prst="roundRect">
            <a:avLst>
              <a:gd name="adj" fmla="val 12000"/>
            </a:avLst>
          </a:prstGeom>
          <a:solidFill>
            <a:srgbClr val="F2F5FF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668EFD"/>
                </a:solidFill>
                <a:latin typeface="S-Core Dream 6 Bold"/>
                <a:ea typeface="S-Core Dream 6 Bold"/>
                <a:cs typeface="S-Core Dream 6 Bold"/>
              </a:rPr>
              <a:t>핵심   </a:t>
            </a: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버그는 계산이 아니라 '어디에 저장하느냐'의 문제. 남의 코드도 끝까지 추적해 원인을 찾았습니다.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9052560" y="29260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BEFORE  ·  버그</a:t>
            </a:r>
          </a:p>
        </p:txBody>
      </p:sp>
      <p:pic>
        <p:nvPicPr>
          <p:cNvPr id="115" name="Picture 115" descr="befo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337560"/>
            <a:ext cx="7772400" cy="2317165"/>
          </a:xfrm>
          <a:prstGeom prst="rect">
            <a:avLst/>
          </a:prstGeom>
          <a:ln w="9525">
            <a:solidFill>
              <a:srgbClr val="E3E6EE"/>
            </a:solidFill>
          </a:ln>
        </p:spPr>
      </p:pic>
      <p:sp>
        <p:nvSpPr>
          <p:cNvPr id="116" name="Text 116"/>
          <p:cNvSpPr txBox="1"/>
          <p:nvPr/>
        </p:nvSpPr>
        <p:spPr>
          <a:xfrm>
            <a:off x="9052560" y="6066205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AFTER  ·  수정</a:t>
            </a:r>
          </a:p>
        </p:txBody>
      </p:sp>
      <p:pic>
        <p:nvPicPr>
          <p:cNvPr id="117" name="Picture 117" descr="af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6477685"/>
            <a:ext cx="6143243" cy="2666315"/>
          </a:xfrm>
          <a:prstGeom prst="rect">
            <a:avLst/>
          </a:prstGeom>
          <a:ln w="9525">
            <a:solidFill>
              <a:srgbClr val="E3E6EE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 101"/>
          <p:cNvSpPr txBox="1"/>
          <p:nvPr/>
        </p:nvSpPr>
        <p:spPr>
          <a:xfrm>
            <a:off x="1463040" y="777240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spc="1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PROJECT 01  ·  ROGUETOWER</a:t>
            </a:r>
          </a:p>
        </p:txBody>
      </p:sp>
      <p:sp>
        <p:nvSpPr>
          <p:cNvPr id="102" name="Title 102"/>
          <p:cNvSpPr txBox="1"/>
          <p:nvPr/>
        </p:nvSpPr>
        <p:spPr>
          <a:xfrm>
            <a:off x="1463040" y="1188720"/>
            <a:ext cx="15361920" cy="64008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400" dirty="0">
                <a:solidFill>
                  <a:srgbClr val="668EFD"/>
                </a:solidFill>
                <a:latin typeface="S-Core Dream 7 ExtraBold"/>
                <a:ea typeface="S-Core Dream 7 ExtraBold"/>
                <a:cs typeface="S-Core Dream 7 ExtraBold"/>
              </a:rPr>
              <a:t>출시 후 유저 피드백 반영</a:t>
            </a:r>
          </a:p>
        </p:txBody>
      </p:sp>
      <p:sp>
        <p:nvSpPr>
          <p:cNvPr id="103" name="Subtitle 103"/>
          <p:cNvSpPr txBox="1"/>
          <p:nvPr/>
        </p:nvSpPr>
        <p:spPr>
          <a:xfrm>
            <a:off x="1463040" y="1938528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출시로 끝내지 않고, 커뮤니티에 남은 피드백을 받아 게임을 다듬었습니다</a:t>
            </a:r>
          </a:p>
        </p:txBody>
      </p:sp>
      <p:pic>
        <p:nvPicPr>
          <p:cNvPr id="104" name="Picture 104" descr="f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926080"/>
            <a:ext cx="15361920" cy="3795842"/>
          </a:xfrm>
          <a:prstGeom prst="rect">
            <a:avLst/>
          </a:prstGeom>
          <a:ln w="9525">
            <a:solidFill>
              <a:srgbClr val="E3E6EE"/>
            </a:solidFill>
          </a:ln>
        </p:spPr>
      </p:pic>
      <p:sp>
        <p:nvSpPr>
          <p:cNvPr id="105" name="Caption 105"/>
          <p:cNvSpPr txBox="1"/>
          <p:nvPr/>
        </p:nvSpPr>
        <p:spPr>
          <a:xfrm>
            <a:off x="1463040" y="6831650"/>
            <a:ext cx="153619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9E9E9E"/>
                </a:solidFill>
                <a:latin typeface="S-Core Dream 3 Light"/>
                <a:ea typeface="S-Core Dream 3 Light"/>
                <a:cs typeface="S-Core Dream 3 Light"/>
              </a:rPr>
              <a:t>실제 유저 피드백 (STOVE 커뮤니티 게시판)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1463040" y="7407722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“대쉬 쿨타임이 작아 안 보인다”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1463040" y="7910642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dirty="0">
                <a:solidFill>
                  <a:srgbClr val="668EFD"/>
                </a:solidFill>
                <a:latin typeface="S-Core Dream 3 Light"/>
                <a:ea typeface="S-Core Dream 3 Light"/>
                <a:cs typeface="S-Core Dream 3 Light"/>
              </a:rPr>
              <a:t>→  쿨타임을 캐릭터 옆 UI로 시각화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9509760" y="7407722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“충돌 판정이 넉넉해 길막당한다”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9509760" y="7910642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dirty="0">
                <a:solidFill>
                  <a:srgbClr val="668EFD"/>
                </a:solidFill>
                <a:latin typeface="S-Core Dream 3 Light"/>
                <a:ea typeface="S-Core Dream 3 Light"/>
                <a:cs typeface="S-Core Dream 3 Light"/>
              </a:rPr>
              <a:t>→  오브젝트 충돌 판정 범위 조정</a:t>
            </a:r>
          </a:p>
        </p:txBody>
      </p:sp>
      <p:sp>
        <p:nvSpPr>
          <p:cNvPr id="110" name="Divider 110"/>
          <p:cNvSpPr/>
          <p:nvPr/>
        </p:nvSpPr>
        <p:spPr>
          <a:xfrm>
            <a:off x="1463040" y="8596442"/>
            <a:ext cx="15361920" cy="18288"/>
          </a:xfrm>
          <a:prstGeom prst="rect">
            <a:avLst/>
          </a:prstGeom>
          <a:solidFill>
            <a:srgbClr val="E3E6EE"/>
          </a:solidFill>
          <a:ln>
            <a:noFill/>
          </a:ln>
        </p:spPr>
      </p:sp>
      <p:sp>
        <p:nvSpPr>
          <p:cNvPr id="111" name="Text 111"/>
          <p:cNvSpPr txBox="1"/>
          <p:nvPr/>
        </p:nvSpPr>
        <p:spPr>
          <a:xfrm>
            <a:off x="1463040" y="8779322"/>
            <a:ext cx="153619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9E9E9E"/>
                </a:solidFill>
                <a:latin typeface="S-Core Dream 3 Light"/>
                <a:ea typeface="S-Core Dream 3 Light"/>
                <a:cs typeface="S-Core Dream 3 Light"/>
              </a:rPr>
              <a:t>만드는 사람은 놓치지만, 플레이하는 사람은 바로 느끼는 지점이 있다는 것을 배웠습니다.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8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384300"/>
            <a:ext cx="5588000" cy="3911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198100" y="1460500"/>
            <a:ext cx="6515100" cy="2603500"/>
          </a:xfrm>
          <a:prstGeom prst="rect">
            <a:avLst/>
          </a:prstGeom>
        </p:spPr>
        <p:txBody>
          <a:bodyPr lIns="0" tIns="19354" rIns="0" bIns="0" rtlCol="0" anchor="ctr"/>
          <a:lstStyle/>
          <a:p>
            <a:pPr lvl="0" algn="r">
              <a:lnSpc>
                <a:spcPct val="105658"/>
              </a:lnSpc>
            </a:pPr>
            <a:r>
              <a:rPr lang="en-US" sz="2399" b="0" i="0" u="none" strike="noStrike" cap="all" spc="-10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Project.2</a:t>
            </a:r>
          </a:p>
          <a:p>
            <a:pPr lvl="0" algn="r">
              <a:lnSpc>
                <a:spcPct val="105658"/>
              </a:lnSpc>
            </a:pPr>
            <a:endParaRPr lang="en-US" sz="2399" b="0" i="0" u="none" strike="noStrike" cap="all" spc="-100">
              <a:solidFill>
                <a:srgbClr val="FFFFFF"/>
              </a:solidFill>
              <a:latin typeface="S-Core Dream 6 Bold"/>
              <a:ea typeface="S-Core Dream 6 Bold"/>
              <a:cs typeface="S-Core Dream 6 Bold"/>
            </a:endParaRPr>
          </a:p>
          <a:p>
            <a:pPr lvl="0" algn="r">
              <a:lnSpc>
                <a:spcPct val="90968"/>
              </a:lnSpc>
            </a:pPr>
            <a:r>
              <a:rPr lang="en-US" sz="6361" b="0" i="0" u="none" strike="noStrike" cap="all" spc="-30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ZooJack</a:t>
            </a:r>
          </a:p>
          <a:p>
            <a:pPr lvl="0" algn="r">
              <a:lnSpc>
                <a:spcPct val="132302"/>
              </a:lnSpc>
            </a:pPr>
            <a:r>
              <a:rPr lang="en-US" sz="4697" b="0" i="0" u="none" strike="noStrike" cap="all" spc="-200">
                <a:solidFill>
                  <a:srgbClr val="FFFFFF"/>
                </a:solidFill>
                <a:latin typeface="S-Core Dream 3 Light"/>
                <a:ea typeface="S-Core Dream 3 Light"/>
                <a:cs typeface="S-Core Dream 3 Light"/>
              </a:rPr>
              <a:t>심리전 카드 게임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10800000">
            <a:off x="1612900" y="6184900"/>
            <a:ext cx="3492500" cy="101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612900" y="6769100"/>
            <a:ext cx="37211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5087"/>
              </a:lnSpc>
            </a:pPr>
            <a:r>
              <a:rPr lang="en-US" sz="1799" b="1" i="0" u="none" strike="noStrike">
                <a:solidFill>
                  <a:srgbClr val="FFFFFF"/>
                </a:solidFill>
                <a:latin typeface="S-Core Dream 5 Medium"/>
                <a:ea typeface="S-Core Dream 5 Medium"/>
                <a:cs typeface="S-Core Dream 5 Medium"/>
              </a:rPr>
              <a:t>ABOUT PROJECT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12900" y="7404100"/>
            <a:ext cx="3695700" cy="1828800"/>
          </a:xfrm>
          <a:prstGeom prst="rect">
            <a:avLst/>
          </a:prstGeom>
        </p:spPr>
        <p:txBody>
          <a:bodyPr lIns="0" tIns="0" rIns="0" bIns="1689" rtlCol="0" anchor="ctr"/>
          <a:lstStyle/>
          <a:p>
            <a:pPr lvl="0" algn="l">
              <a:lnSpc>
                <a:spcPct val="152886"/>
              </a:lnSpc>
            </a:pPr>
            <a:r>
              <a:rPr lang="en-US" sz="1399" b="0" i="0" u="none" strike="noStrike">
                <a:solidFill>
                  <a:srgbClr val="FFFFFF"/>
                </a:solidFill>
                <a:latin typeface="S-Core Dream 3 Light"/>
                <a:ea typeface="S-Core Dream 3 Light"/>
                <a:cs typeface="S-Core Dream 3 Light"/>
              </a:rPr>
              <a:t>2인 팀 · 약 3개월</a:t>
            </a:r>
          </a:p>
          <a:p>
            <a:pPr lvl="0" algn="l">
              <a:lnSpc>
                <a:spcPct val="152886"/>
              </a:lnSpc>
            </a:pPr>
            <a:r>
              <a:rPr lang="en-US" sz="1399" b="0" i="0" u="none" strike="noStrike">
                <a:solidFill>
                  <a:srgbClr val="FFFFFF"/>
                </a:solidFill>
                <a:latin typeface="S-Core Dream 3 Light"/>
                <a:ea typeface="S-Core Dream 3 Light"/>
                <a:cs typeface="S-Core Dream 3 Light"/>
              </a:rPr>
              <a:t>itch.io 출시 (2026.08.22)</a:t>
            </a:r>
          </a:p>
          <a:p>
            <a:pPr lvl="0" algn="l">
              <a:lnSpc>
                <a:spcPct val="114622"/>
              </a:lnSpc>
            </a:pPr>
            <a:endParaRPr lang="en-US" sz="1399" b="0" i="0" u="none" strike="noStrike">
              <a:solidFill>
                <a:srgbClr val="FFFFFF"/>
              </a:solidFill>
              <a:latin typeface="S-Core Dream 3 Light"/>
              <a:ea typeface="S-Core Dream 3 Light"/>
              <a:cs typeface="S-Core Dream 3 Light"/>
            </a:endParaRPr>
          </a:p>
          <a:p>
            <a:pPr lvl="0" algn="l">
              <a:lnSpc>
                <a:spcPct val="152886"/>
              </a:lnSpc>
            </a:pPr>
            <a:r>
              <a:rPr lang="en-US" sz="1399" b="0" i="0" u="none" strike="noStrike">
                <a:solidFill>
                  <a:srgbClr val="FFFFFF"/>
                </a:solidFill>
                <a:latin typeface="S-Core Dream 3 Light"/>
                <a:ea typeface="S-Core Dream 3 Light"/>
                <a:cs typeface="S-Core Dream 3 Light"/>
              </a:rPr>
              <a:t>담당</a:t>
            </a:r>
          </a:p>
          <a:p>
            <a:pPr lvl="0" algn="l">
              <a:lnSpc>
                <a:spcPct val="114622"/>
              </a:lnSpc>
            </a:pPr>
            <a:r>
              <a:rPr lang="en-US" sz="1399" b="0" i="0" u="none" strike="noStrike">
                <a:solidFill>
                  <a:srgbClr val="FFFFFF"/>
                </a:solidFill>
                <a:latin typeface="S-Core Dream 3 Light"/>
                <a:ea typeface="S-Core Dream 3 Light"/>
                <a:cs typeface="S-Core Dream 3 Light"/>
              </a:rPr>
              <a:t>Photon 멀티플레이 · 카드 로직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 101"/>
          <p:cNvSpPr txBox="1"/>
          <p:nvPr/>
        </p:nvSpPr>
        <p:spPr>
          <a:xfrm>
            <a:off x="1463040" y="777240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spc="1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PROJECT 02  ·  ZOOJACK</a:t>
            </a:r>
          </a:p>
        </p:txBody>
      </p:sp>
      <p:sp>
        <p:nvSpPr>
          <p:cNvPr id="102" name="Title 102"/>
          <p:cNvSpPr txBox="1"/>
          <p:nvPr/>
        </p:nvSpPr>
        <p:spPr>
          <a:xfrm>
            <a:off x="1463040" y="1188720"/>
            <a:ext cx="15361920" cy="64008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400" dirty="0">
                <a:solidFill>
                  <a:srgbClr val="668EFD"/>
                </a:solidFill>
                <a:latin typeface="S-Core Dream 7 ExtraBold"/>
                <a:ea typeface="S-Core Dream 7 ExtraBold"/>
                <a:cs typeface="S-Core Dream 7 ExtraBold"/>
              </a:rPr>
              <a:t>게임 소개</a:t>
            </a:r>
          </a:p>
        </p:txBody>
      </p:sp>
      <p:sp>
        <p:nvSpPr>
          <p:cNvPr id="103" name="Subtitle 103"/>
          <p:cNvSpPr txBox="1"/>
          <p:nvPr/>
        </p:nvSpPr>
        <p:spPr>
          <a:xfrm>
            <a:off x="1463040" y="1938528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딜러의 속임수를 고발해 승패를 뒤집는 3인 심리전 카드 게임</a:t>
            </a:r>
          </a:p>
        </p:txBody>
      </p:sp>
      <p:pic>
        <p:nvPicPr>
          <p:cNvPr id="104" name="Picture 104" descr="deal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926080"/>
            <a:ext cx="8046720" cy="4506331"/>
          </a:xfrm>
          <a:prstGeom prst="rect">
            <a:avLst/>
          </a:prstGeom>
          <a:ln w="9525">
            <a:solidFill>
              <a:srgbClr val="E3E6EE"/>
            </a:solidFill>
          </a:ln>
        </p:spPr>
      </p:pic>
      <p:pic>
        <p:nvPicPr>
          <p:cNvPr id="105" name="Picture 105" descr="zj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7706731"/>
            <a:ext cx="2499360" cy="1404539"/>
          </a:xfrm>
          <a:prstGeom prst="rect">
            <a:avLst/>
          </a:prstGeom>
          <a:ln w="9525">
            <a:solidFill>
              <a:srgbClr val="E3E6EE"/>
            </a:solidFill>
          </a:ln>
        </p:spPr>
      </p:pic>
      <p:pic>
        <p:nvPicPr>
          <p:cNvPr id="106" name="Picture 106" descr="zj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720" y="7706731"/>
            <a:ext cx="2499360" cy="1404539"/>
          </a:xfrm>
          <a:prstGeom prst="rect">
            <a:avLst/>
          </a:prstGeom>
          <a:ln w="9525">
            <a:solidFill>
              <a:srgbClr val="E3E6EE"/>
            </a:solidFill>
          </a:ln>
        </p:spPr>
      </p:pic>
      <p:pic>
        <p:nvPicPr>
          <p:cNvPr id="107" name="Picture 107" descr="zj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7706731"/>
            <a:ext cx="2499360" cy="1404539"/>
          </a:xfrm>
          <a:prstGeom prst="rect">
            <a:avLst/>
          </a:prstGeom>
          <a:ln w="9525">
            <a:solidFill>
              <a:srgbClr val="E3E6EE"/>
            </a:solidFill>
          </a:ln>
        </p:spPr>
      </p:pic>
      <p:sp>
        <p:nvSpPr>
          <p:cNvPr id="108" name="Text 108"/>
          <p:cNvSpPr txBox="1"/>
          <p:nvPr/>
        </p:nvSpPr>
        <p:spPr>
          <a:xfrm>
            <a:off x="10607040" y="297180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장르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12207240" y="297180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카드 게임 · 전략 (블랙잭 기반)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10607040" y="352044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엔진 · 언어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12207240" y="352044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Unity / C#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10607040" y="406908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네트워크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12207240" y="406908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Photon 멀티플레이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10607040" y="461772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팀 구성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12207240" y="461772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2인 (클라이언트 프로그래머)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10607040" y="516636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개발 기간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12207240" y="51663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2026.06 ~ 2026.08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10607040" y="571500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출시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12207240" y="571500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itch.io · 2026.08.22</a:t>
            </a:r>
          </a:p>
        </p:txBody>
      </p:sp>
      <p:sp>
        <p:nvSpPr>
          <p:cNvPr id="120" name="Divider 120"/>
          <p:cNvSpPr/>
          <p:nvPr/>
        </p:nvSpPr>
        <p:spPr>
          <a:xfrm>
            <a:off x="10607040" y="6446520"/>
            <a:ext cx="6217920" cy="18288"/>
          </a:xfrm>
          <a:prstGeom prst="rect">
            <a:avLst/>
          </a:prstGeom>
          <a:solidFill>
            <a:srgbClr val="E3E6EE"/>
          </a:solidFill>
          <a:ln>
            <a:noFill/>
          </a:ln>
        </p:spPr>
      </p:sp>
      <p:sp>
        <p:nvSpPr>
          <p:cNvPr id="121" name="Link 121"/>
          <p:cNvSpPr txBox="1"/>
          <p:nvPr/>
        </p:nvSpPr>
        <p:spPr>
          <a:xfrm>
            <a:off x="10607040" y="6720840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itch.io   </a:t>
            </a:r>
            <a:r>
              <a:rPr lang="ko-KR" altLang="en-US" sz="14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  <a:hlinkClick r:id="rId6"/>
              </a:rPr>
              <a:t>boxonkr.itch.io/zoo-jack</a:t>
            </a:r>
          </a:p>
        </p:txBody>
      </p:sp>
      <p:sp>
        <p:nvSpPr>
          <p:cNvPr id="122" name="Link 122"/>
          <p:cNvSpPr txBox="1"/>
          <p:nvPr/>
        </p:nvSpPr>
        <p:spPr>
          <a:xfrm>
            <a:off x="10607040" y="7178040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GitHub   </a:t>
            </a:r>
            <a:r>
              <a:rPr lang="ko-KR" altLang="en-US" sz="14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  <a:hlinkClick r:id="rId7"/>
              </a:rPr>
              <a:t>github.com/parkseonghee/zoojack-portfolio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 101"/>
          <p:cNvSpPr txBox="1"/>
          <p:nvPr/>
        </p:nvSpPr>
        <p:spPr>
          <a:xfrm>
            <a:off x="1463040" y="777240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spc="1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PROJECT 02  ·  ZOOJACK</a:t>
            </a:r>
          </a:p>
        </p:txBody>
      </p:sp>
      <p:sp>
        <p:nvSpPr>
          <p:cNvPr id="102" name="Title 102"/>
          <p:cNvSpPr txBox="1"/>
          <p:nvPr/>
        </p:nvSpPr>
        <p:spPr>
          <a:xfrm>
            <a:off x="1463040" y="1188720"/>
            <a:ext cx="15361920" cy="64008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400" dirty="0">
                <a:solidFill>
                  <a:srgbClr val="668EFD"/>
                </a:solidFill>
                <a:latin typeface="S-Core Dream 7 ExtraBold"/>
                <a:ea typeface="S-Core Dream 7 ExtraBold"/>
                <a:cs typeface="S-Core Dream 7 ExtraBold"/>
              </a:rPr>
              <a:t>고발 시스템</a:t>
            </a:r>
          </a:p>
        </p:txBody>
      </p:sp>
      <p:sp>
        <p:nvSpPr>
          <p:cNvPr id="103" name="Subtitle 103"/>
          <p:cNvSpPr txBox="1"/>
          <p:nvPr/>
        </p:nvSpPr>
        <p:spPr>
          <a:xfrm>
            <a:off x="1463040" y="1938528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딜러의 속임수를 눈치채고 고발해 승패를 뒤집는 심리전 장치</a:t>
            </a:r>
          </a:p>
        </p:txBody>
      </p:sp>
      <p:sp>
        <p:nvSpPr>
          <p:cNvPr id="104" name="StepNum 104"/>
          <p:cNvSpPr/>
          <p:nvPr/>
        </p:nvSpPr>
        <p:spPr>
          <a:xfrm>
            <a:off x="1463040" y="2971800"/>
            <a:ext cx="457200" cy="45720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1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2148840" y="2990088"/>
            <a:ext cx="62636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딜러가 카드를 조작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2148840" y="3474720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라운드 진행 중 딜러는 몰래 카드를 바꿀 수 있다</a:t>
            </a:r>
          </a:p>
        </p:txBody>
      </p:sp>
      <p:sp>
        <p:nvSpPr>
          <p:cNvPr id="107" name="StepNum 107"/>
          <p:cNvSpPr/>
          <p:nvPr/>
        </p:nvSpPr>
        <p:spPr>
          <a:xfrm>
            <a:off x="1463040" y="4434840"/>
            <a:ext cx="457200" cy="45720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2148840" y="4453128"/>
            <a:ext cx="62636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패배한 플레이어가 고발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2148840" y="4937760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진 쪽이 딜러의 조작을 의심하면 고발을 선택</a:t>
            </a:r>
          </a:p>
        </p:txBody>
      </p:sp>
      <p:sp>
        <p:nvSpPr>
          <p:cNvPr id="110" name="StepNum 110"/>
          <p:cNvSpPr/>
          <p:nvPr/>
        </p:nvSpPr>
        <p:spPr>
          <a:xfrm>
            <a:off x="1463040" y="5897880"/>
            <a:ext cx="457200" cy="45720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3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2148840" y="5916168"/>
            <a:ext cx="62636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고발 판정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2148840" y="6400800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조작이 있었으면 고발 성공, 없었으면 실패</a:t>
            </a:r>
          </a:p>
        </p:txBody>
      </p:sp>
      <p:sp>
        <p:nvSpPr>
          <p:cNvPr id="113" name="StepNum 113"/>
          <p:cNvSpPr/>
          <p:nvPr/>
        </p:nvSpPr>
        <p:spPr>
          <a:xfrm>
            <a:off x="1463040" y="7360920"/>
            <a:ext cx="457200" cy="45720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4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2148840" y="7379208"/>
            <a:ext cx="62636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승패 역전 또는 유지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2148840" y="7863840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성공 시 결과가 뒤집히고, 실패 시 그대로 패배</a:t>
            </a:r>
          </a:p>
        </p:txBody>
      </p:sp>
      <p:pic>
        <p:nvPicPr>
          <p:cNvPr id="116" name="Picture 116" descr="accu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926080"/>
            <a:ext cx="5486400" cy="3083135"/>
          </a:xfrm>
          <a:prstGeom prst="rect">
            <a:avLst/>
          </a:prstGeom>
          <a:ln w="9525">
            <a:solidFill>
              <a:srgbClr val="E3E6EE"/>
            </a:solidFill>
          </a:ln>
        </p:spPr>
      </p:pic>
      <p:sp>
        <p:nvSpPr>
          <p:cNvPr id="117" name="Caption 117"/>
          <p:cNvSpPr txBox="1"/>
          <p:nvPr/>
        </p:nvSpPr>
        <p:spPr>
          <a:xfrm>
            <a:off x="9509760" y="6118943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9E9E9E"/>
                </a:solidFill>
                <a:latin typeface="S-Core Dream 3 Light"/>
                <a:ea typeface="S-Core Dream 3 Light"/>
                <a:cs typeface="S-Core Dream 3 Light"/>
              </a:rPr>
              <a:t>실제 고발 화면 — 진 플레이어가 딜러를 고발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9509760" y="6740735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내가 구현한 부분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9509760" y="7289375"/>
            <a:ext cx="7315200" cy="1645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·  카드 게임의 규칙과 고발 로직 구현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·  고발 성공·실패에 따라 승패 결과를 전환하는 처리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·  Photon으로 여러 플레이어가 같은 게임 상태를 공유하도록 동기화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 101"/>
          <p:cNvSpPr txBox="1"/>
          <p:nvPr/>
        </p:nvSpPr>
        <p:spPr>
          <a:xfrm>
            <a:off x="1463040" y="777240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spc="1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PROJECT 02  ·  ZOOJACK</a:t>
            </a:r>
          </a:p>
        </p:txBody>
      </p:sp>
      <p:sp>
        <p:nvSpPr>
          <p:cNvPr id="102" name="Title 102"/>
          <p:cNvSpPr txBox="1"/>
          <p:nvPr/>
        </p:nvSpPr>
        <p:spPr>
          <a:xfrm>
            <a:off x="1463040" y="1188720"/>
            <a:ext cx="15361920" cy="64008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400" dirty="0">
                <a:solidFill>
                  <a:srgbClr val="668EFD"/>
                </a:solidFill>
                <a:latin typeface="S-Core Dream 7 ExtraBold"/>
                <a:ea typeface="S-Core Dream 7 ExtraBold"/>
                <a:cs typeface="S-Core Dream 7 ExtraBold"/>
              </a:rPr>
              <a:t>Photon 멀티플레이</a:t>
            </a:r>
          </a:p>
        </p:txBody>
      </p:sp>
      <p:sp>
        <p:nvSpPr>
          <p:cNvPr id="103" name="Subtitle 103"/>
          <p:cNvSpPr txBox="1"/>
          <p:nvPr/>
        </p:nvSpPr>
        <p:spPr>
          <a:xfrm>
            <a:off x="1463040" y="1938528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한 사람의 행동이 다른 사람 화면에도 똑같이 반영되도록 게임 상태를 맞췄습니다</a:t>
            </a:r>
          </a:p>
        </p:txBody>
      </p:sp>
      <p:cxnSp>
        <p:nvCxnSpPr>
          <p:cNvPr id="104" name="Connector 104"/>
          <p:cNvCxnSpPr/>
          <p:nvPr/>
        </p:nvCxnSpPr>
        <p:spPr>
          <a:xfrm>
            <a:off x="2377440" y="3566160"/>
            <a:ext cx="3017520" cy="2194560"/>
          </a:xfrm>
          <a:prstGeom prst="line">
            <a:avLst/>
          </a:prstGeom>
          <a:ln w="25400">
            <a:solidFill>
              <a:srgbClr val="668EFD"/>
            </a:solidFill>
            <a:prstDash val="dash"/>
          </a:ln>
        </p:spPr>
      </p:cxnSp>
      <p:cxnSp>
        <p:nvCxnSpPr>
          <p:cNvPr id="105" name="Connector 105"/>
          <p:cNvCxnSpPr/>
          <p:nvPr/>
        </p:nvCxnSpPr>
        <p:spPr>
          <a:xfrm flipV="1">
            <a:off x="2377440" y="5760720"/>
            <a:ext cx="3017520" cy="2194560"/>
          </a:xfrm>
          <a:prstGeom prst="line">
            <a:avLst/>
          </a:prstGeom>
          <a:ln w="25400">
            <a:solidFill>
              <a:srgbClr val="668EFD"/>
            </a:solidFill>
            <a:prstDash val="dash"/>
          </a:ln>
        </p:spPr>
      </p:cxnSp>
      <p:cxnSp>
        <p:nvCxnSpPr>
          <p:cNvPr id="106" name="Connector 106"/>
          <p:cNvCxnSpPr/>
          <p:nvPr/>
        </p:nvCxnSpPr>
        <p:spPr>
          <a:xfrm>
            <a:off x="5394960" y="5760720"/>
            <a:ext cx="3017520" cy="0"/>
          </a:xfrm>
          <a:prstGeom prst="line">
            <a:avLst/>
          </a:prstGeom>
          <a:ln w="25400">
            <a:solidFill>
              <a:srgbClr val="668EFD"/>
            </a:solidFill>
            <a:prstDash val="dash"/>
          </a:ln>
        </p:spPr>
      </p:cxnSp>
      <p:sp>
        <p:nvSpPr>
          <p:cNvPr id="107" name="Hub 107"/>
          <p:cNvSpPr/>
          <p:nvPr/>
        </p:nvSpPr>
        <p:spPr>
          <a:xfrm>
            <a:off x="4160520" y="4526280"/>
            <a:ext cx="2468880" cy="246888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공유되는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게임 상태</a:t>
            </a:r>
          </a:p>
        </p:txBody>
      </p:sp>
      <p:sp>
        <p:nvSpPr>
          <p:cNvPr id="108" name="Player 108"/>
          <p:cNvSpPr/>
          <p:nvPr/>
        </p:nvSpPr>
        <p:spPr>
          <a:xfrm>
            <a:off x="1600200" y="2788920"/>
            <a:ext cx="1554480" cy="1554480"/>
          </a:xfrm>
          <a:prstGeom prst="ellipse">
            <a:avLst/>
          </a:prstGeom>
          <a:solidFill>
            <a:srgbClr val="F2F5FF"/>
          </a:solidFill>
          <a:ln w="19050">
            <a:solidFill>
              <a:srgbClr val="668EFD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플레이어 1</a:t>
            </a:r>
          </a:p>
        </p:txBody>
      </p:sp>
      <p:sp>
        <p:nvSpPr>
          <p:cNvPr id="109" name="Player 109"/>
          <p:cNvSpPr/>
          <p:nvPr/>
        </p:nvSpPr>
        <p:spPr>
          <a:xfrm>
            <a:off x="1600200" y="7178040"/>
            <a:ext cx="1554480" cy="1554480"/>
          </a:xfrm>
          <a:prstGeom prst="ellipse">
            <a:avLst/>
          </a:prstGeom>
          <a:solidFill>
            <a:srgbClr val="F2F5FF"/>
          </a:solidFill>
          <a:ln w="19050">
            <a:solidFill>
              <a:srgbClr val="668EFD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플레이어 2</a:t>
            </a:r>
          </a:p>
        </p:txBody>
      </p:sp>
      <p:sp>
        <p:nvSpPr>
          <p:cNvPr id="110" name="Player 110"/>
          <p:cNvSpPr/>
          <p:nvPr/>
        </p:nvSpPr>
        <p:spPr>
          <a:xfrm>
            <a:off x="7635240" y="4983480"/>
            <a:ext cx="1554480" cy="1554480"/>
          </a:xfrm>
          <a:prstGeom prst="ellipse">
            <a:avLst/>
          </a:prstGeom>
          <a:solidFill>
            <a:srgbClr val="F2F5FF"/>
          </a:solidFill>
          <a:ln w="19050">
            <a:solidFill>
              <a:srgbClr val="668EFD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플레이어 3</a:t>
            </a:r>
          </a:p>
        </p:txBody>
      </p:sp>
      <p:sp>
        <p:nvSpPr>
          <p:cNvPr id="111" name="Caption 111"/>
          <p:cNvSpPr txBox="1"/>
          <p:nvPr/>
        </p:nvSpPr>
        <p:spPr>
          <a:xfrm>
            <a:off x="1463040" y="9006840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9E9E9E"/>
                </a:solidFill>
                <a:latin typeface="S-Core Dream 3 Light"/>
                <a:ea typeface="S-Core Dream 3 Light"/>
                <a:cs typeface="S-Core Dream 3 Light"/>
              </a:rPr>
              <a:t>각 플레이어의 행동  ↔  게임 상태 실시간 공유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10424160" y="329184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내가 맡은 부분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10424160" y="3977640"/>
            <a:ext cx="6400800" cy="274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7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·  게임 방을 만들고 입장하는 기능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7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·  카드 분배·턴 진행 같은 상태를 플레이어끼리 맞추기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7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·  한 명의 행동이 다른 화면에도 반영되도록 동기화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 101"/>
          <p:cNvSpPr txBox="1"/>
          <p:nvPr/>
        </p:nvSpPr>
        <p:spPr>
          <a:xfrm>
            <a:off x="1463040" y="777240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spc="1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PROJECT 02  ·  ZOOJACK</a:t>
            </a:r>
          </a:p>
        </p:txBody>
      </p:sp>
      <p:sp>
        <p:nvSpPr>
          <p:cNvPr id="102" name="Title 102"/>
          <p:cNvSpPr txBox="1"/>
          <p:nvPr/>
        </p:nvSpPr>
        <p:spPr>
          <a:xfrm>
            <a:off x="1463040" y="1188720"/>
            <a:ext cx="15361920" cy="64008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400" dirty="0">
                <a:solidFill>
                  <a:srgbClr val="668EFD"/>
                </a:solidFill>
                <a:latin typeface="S-Core Dream 7 ExtraBold"/>
                <a:ea typeface="S-Core Dream 7 ExtraBold"/>
                <a:cs typeface="S-Core Dream 7 ExtraBold"/>
              </a:rPr>
              <a:t>트러블슈팅</a:t>
            </a:r>
          </a:p>
        </p:txBody>
      </p:sp>
      <p:sp>
        <p:nvSpPr>
          <p:cNvPr id="103" name="Subtitle 103"/>
          <p:cNvSpPr txBox="1"/>
          <p:nvPr/>
        </p:nvSpPr>
        <p:spPr>
          <a:xfrm>
            <a:off x="1463040" y="1938528"/>
            <a:ext cx="153619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GameDirector 리팩터링</a:t>
            </a:r>
          </a:p>
        </p:txBody>
      </p:sp>
      <p:sp>
        <p:nvSpPr>
          <p:cNvPr id="104" name="StepNum 104"/>
          <p:cNvSpPr/>
          <p:nvPr/>
        </p:nvSpPr>
        <p:spPr>
          <a:xfrm>
            <a:off x="1463040" y="2926080"/>
            <a:ext cx="457200" cy="45720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1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2148840" y="2944368"/>
            <a:ext cx="644652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문제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2148840" y="3429000"/>
            <a:ext cx="644652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게임 진행 로직과 화면 표시(UI) 코드가 GameDirector 한 클래스에 몰려, 인스펙터에서 값을 찾고 수정하기가 점점 어려워짐.</a:t>
            </a:r>
          </a:p>
        </p:txBody>
      </p:sp>
      <p:sp>
        <p:nvSpPr>
          <p:cNvPr id="107" name="StepNum 107"/>
          <p:cNvSpPr/>
          <p:nvPr/>
        </p:nvSpPr>
        <p:spPr>
          <a:xfrm>
            <a:off x="1463040" y="4498848"/>
            <a:ext cx="457200" cy="45720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2148840" y="4517136"/>
            <a:ext cx="644652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원인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2148840" y="5001768"/>
            <a:ext cx="644652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게임 규칙 처리와 칩·머니바·승패 표시 같은 UI 갱신이 한 클래스에 섞여 책임이 과도하게 집중됨. 하드코딩된 값도 관리가 힘들어짐.</a:t>
            </a:r>
          </a:p>
        </p:txBody>
      </p:sp>
      <p:sp>
        <p:nvSpPr>
          <p:cNvPr id="110" name="StepNum 110"/>
          <p:cNvSpPr/>
          <p:nvPr/>
        </p:nvSpPr>
        <p:spPr>
          <a:xfrm>
            <a:off x="1463040" y="6071616"/>
            <a:ext cx="457200" cy="45720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3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2148840" y="6089904"/>
            <a:ext cx="644652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해결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2148840" y="6574536"/>
            <a:ext cx="644652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화면 표시 코드를 역할별로 4개 클래스(Presenter 1개 · View 3개)로 분리하고, 하드코딩을 걷어냄.</a:t>
            </a:r>
          </a:p>
        </p:txBody>
      </p:sp>
      <p:sp>
        <p:nvSpPr>
          <p:cNvPr id="113" name="StepNum 113"/>
          <p:cNvSpPr/>
          <p:nvPr/>
        </p:nvSpPr>
        <p:spPr>
          <a:xfrm>
            <a:off x="1463040" y="7644384"/>
            <a:ext cx="457200" cy="457200"/>
          </a:xfrm>
          <a:prstGeom prst="ellipse">
            <a:avLst/>
          </a:prstGeom>
          <a:solidFill>
            <a:srgbClr val="668EFD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4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2148840" y="7662672"/>
            <a:ext cx="644652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결과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2148840" y="8147304"/>
            <a:ext cx="644652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3 Light"/>
                <a:ea typeface="S-Core Dream 3 Light"/>
                <a:cs typeface="S-Core Dream 3 Light"/>
              </a:rPr>
              <a:t>기능별 위치가 명확해져 값 수정과 디버깅이 쉬워짐. '동작하는 코드'와 '유지보수되는 코드'의 차이를 체감.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9692640" y="292608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9E9E9E"/>
                </a:solidFill>
                <a:latin typeface="S-Core Dream 5 Medium"/>
                <a:ea typeface="S-Core Dream 5 Medium"/>
                <a:cs typeface="S-Core Dream 5 Medium"/>
              </a:rPr>
              <a:t>BEFORE</a:t>
            </a:r>
          </a:p>
        </p:txBody>
      </p:sp>
      <p:sp>
        <p:nvSpPr>
          <p:cNvPr id="117" name="Before 117"/>
          <p:cNvSpPr/>
          <p:nvPr/>
        </p:nvSpPr>
        <p:spPr>
          <a:xfrm>
            <a:off x="9692640" y="3383280"/>
            <a:ext cx="7132320" cy="1554480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 w="12700">
            <a:solidFill>
              <a:srgbClr val="D5D7DD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4E4E4E"/>
                </a:solidFill>
                <a:latin typeface="S-Core Dream 6 Bold"/>
                <a:ea typeface="S-Core Dream 6 Bold"/>
                <a:cs typeface="S-Core Dream 6 Bold"/>
              </a:rPr>
              <a:t>GameDirector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9E9E9E"/>
                </a:solidFill>
                <a:latin typeface="S-Core Dream 3 Light"/>
                <a:ea typeface="S-Core Dream 3 Light"/>
                <a:cs typeface="S-Core Dream 3 Light"/>
              </a:rPr>
              <a:t>게임 진행 + 화면 표시가 한 클래스에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9692640" y="525780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↓   화면 표시 코드를 역할별로 분리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9692640" y="603504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668EFD"/>
                </a:solidFill>
                <a:latin typeface="S-Core Dream 5 Medium"/>
                <a:ea typeface="S-Core Dream 5 Medium"/>
                <a:cs typeface="S-Core Dream 5 Medium"/>
              </a:rPr>
              <a:t>AFTER</a:t>
            </a:r>
          </a:p>
        </p:txBody>
      </p:sp>
      <p:sp>
        <p:nvSpPr>
          <p:cNvPr id="120" name="After 120"/>
          <p:cNvSpPr/>
          <p:nvPr/>
        </p:nvSpPr>
        <p:spPr>
          <a:xfrm>
            <a:off x="9692640" y="6446520"/>
            <a:ext cx="3451860" cy="1051560"/>
          </a:xfrm>
          <a:prstGeom prst="roundRect">
            <a:avLst>
              <a:gd name="adj" fmla="val 12000"/>
            </a:avLst>
          </a:prstGeom>
          <a:solidFill>
            <a:srgbClr val="EEF3FF"/>
          </a:solidFill>
          <a:ln w="12700">
            <a:solidFill>
              <a:srgbClr val="668EFD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GamePanelPresenter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7A7A7A"/>
                </a:solidFill>
                <a:latin typeface="S-Core Dream 3 Light"/>
                <a:ea typeface="S-Core Dream 3 Light"/>
                <a:cs typeface="S-Core Dream 3 Light"/>
              </a:rPr>
              <a:t>핫시트·네트워크 공통 화면 조작</a:t>
            </a:r>
          </a:p>
        </p:txBody>
      </p:sp>
      <p:sp>
        <p:nvSpPr>
          <p:cNvPr id="121" name="After 121"/>
          <p:cNvSpPr/>
          <p:nvPr/>
        </p:nvSpPr>
        <p:spPr>
          <a:xfrm>
            <a:off x="13373100" y="6446520"/>
            <a:ext cx="3451860" cy="1051560"/>
          </a:xfrm>
          <a:prstGeom prst="roundRect">
            <a:avLst>
              <a:gd name="adj" fmla="val 12000"/>
            </a:avLst>
          </a:prstGeom>
          <a:solidFill>
            <a:srgbClr val="EEF3FF"/>
          </a:solidFill>
          <a:ln w="12700">
            <a:solidFill>
              <a:srgbClr val="668EFD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BetChipsView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7A7A7A"/>
                </a:solidFill>
                <a:latin typeface="S-Core Dream 3 Light"/>
                <a:ea typeface="S-Core Dream 3 Light"/>
                <a:cs typeface="S-Core Dream 3 Light"/>
              </a:rPr>
              <a:t>판돈 칩·금액 표시</a:t>
            </a:r>
          </a:p>
        </p:txBody>
      </p:sp>
      <p:sp>
        <p:nvSpPr>
          <p:cNvPr id="122" name="After 122"/>
          <p:cNvSpPr/>
          <p:nvPr/>
        </p:nvSpPr>
        <p:spPr>
          <a:xfrm>
            <a:off x="9692640" y="7680960"/>
            <a:ext cx="3451860" cy="1051560"/>
          </a:xfrm>
          <a:prstGeom prst="roundRect">
            <a:avLst>
              <a:gd name="adj" fmla="val 12000"/>
            </a:avLst>
          </a:prstGeom>
          <a:solidFill>
            <a:srgbClr val="EEF3FF"/>
          </a:solidFill>
          <a:ln w="12700">
            <a:solidFill>
              <a:srgbClr val="668EFD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MoneyBarView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7A7A7A"/>
                </a:solidFill>
                <a:latin typeface="S-Core Dream 3 Light"/>
                <a:ea typeface="S-Core Dream 3 Light"/>
                <a:cs typeface="S-Core Dream 3 Light"/>
              </a:rPr>
              <a:t>플레이어별 머니바</a:t>
            </a:r>
          </a:p>
        </p:txBody>
      </p:sp>
      <p:sp>
        <p:nvSpPr>
          <p:cNvPr id="123" name="After 123"/>
          <p:cNvSpPr/>
          <p:nvPr/>
        </p:nvSpPr>
        <p:spPr>
          <a:xfrm>
            <a:off x="13373100" y="7680960"/>
            <a:ext cx="3451860" cy="1051560"/>
          </a:xfrm>
          <a:prstGeom prst="roundRect">
            <a:avLst>
              <a:gd name="adj" fmla="val 12000"/>
            </a:avLst>
          </a:prstGeom>
          <a:solidFill>
            <a:srgbClr val="EEF3FF"/>
          </a:solidFill>
          <a:ln w="12700">
            <a:solidFill>
              <a:srgbClr val="668EFD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E4E4E"/>
                </a:solidFill>
                <a:latin typeface="S-Core Dream 5 Medium"/>
                <a:ea typeface="S-Core Dream 5 Medium"/>
                <a:cs typeface="S-Core Dream 5 Medium"/>
              </a:rPr>
              <a:t>ResultMarkerView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7A7A7A"/>
                </a:solidFill>
                <a:latin typeface="S-Core Dream 3 Light"/>
                <a:ea typeface="S-Core Dream 3 Light"/>
                <a:cs typeface="S-Core Dream 3 Light"/>
              </a:rPr>
              <a:t>승패 표식 (왕관·비석)</a:t>
            </a:r>
          </a:p>
        </p:txBody>
      </p:sp>
      <p:sp>
        <p:nvSpPr>
          <p:cNvPr id="124" name="Caption 124"/>
          <p:cNvSpPr txBox="1"/>
          <p:nvPr/>
        </p:nvSpPr>
        <p:spPr>
          <a:xfrm>
            <a:off x="9692640" y="8915400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9E9E9E"/>
                </a:solidFill>
                <a:latin typeface="S-Core Dream 3 Light"/>
                <a:ea typeface="S-Core Dream 3 Light"/>
                <a:cs typeface="S-Core Dream 3 Light"/>
              </a:rPr>
              <a:t>게임 진행은 GameDirector에 남기고, 화면 표시만 4개 클래스로 분리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94DE4-D4AA-4F52-A443-BF90FC2C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001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00">
                <a:solidFill>
                  <a:srgbClr val="9E9E9E"/>
                </a:solidFill>
              </a:defRPr>
            </a:defPPr>
            <a:lvl1pPr>
              <a:defRPr sz="1300">
                <a:solidFill>
                  <a:srgbClr val="9E9E9E"/>
                </a:solidFill>
              </a:defRPr>
            </a:lvl1pPr>
            <a:lvl2pPr>
              <a:defRPr sz="1300">
                <a:solidFill>
                  <a:srgbClr val="9E9E9E"/>
                </a:solidFill>
              </a:defRPr>
            </a:lvl2pPr>
            <a:lvl3pPr>
              <a:defRPr sz="1300">
                <a:solidFill>
                  <a:srgbClr val="9E9E9E"/>
                </a:solidFill>
              </a:defRPr>
            </a:lvl3pPr>
            <a:lvl4pPr>
              <a:defRPr sz="1300">
                <a:solidFill>
                  <a:srgbClr val="9E9E9E"/>
                </a:solidFill>
              </a:defRPr>
            </a:lvl4pPr>
            <a:lvl5pPr>
              <a:defRPr sz="1300">
                <a:solidFill>
                  <a:srgbClr val="9E9E9E"/>
                </a:solidFill>
              </a:defRPr>
            </a:lvl5pPr>
            <a:lvl6pPr>
              <a:defRPr sz="1300">
                <a:solidFill>
                  <a:srgbClr val="9E9E9E"/>
                </a:solidFill>
              </a:defRPr>
            </a:lvl6pPr>
            <a:lvl7pPr>
              <a:defRPr sz="1300">
                <a:solidFill>
                  <a:srgbClr val="9E9E9E"/>
                </a:solidFill>
              </a:defRPr>
            </a:lvl7pPr>
            <a:lvl8pPr>
              <a:defRPr sz="1300">
                <a:solidFill>
                  <a:srgbClr val="9E9E9E"/>
                </a:solidFill>
              </a:defRPr>
            </a:lvl8pPr>
            <a:lvl9pPr>
              <a:defRPr sz="1300">
                <a:solidFill>
                  <a:srgbClr val="9E9E9E"/>
                </a:solidFill>
              </a:defRPr>
            </a:lvl9pPr>
          </a:lstStyle>
          <a:p xmlns:a="http://schemas.openxmlformats.org/drawingml/2006/main">
            <a:pPr>
              <a:defRPr sz="1300">
                <a:solidFill>
                  <a:srgbClr val="9E9E9E"/>
                </a:solidFill>
              </a:defRPr>
            </a:pPr>
            <a:r>
              <a:rPr sz="1300">
                <a:solidFill>
                  <a:srgbClr val="9E9E9E"/>
                </a:solidFill>
              </a:rPr>
              <a:t>GOAL &amp;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2DDBE-4184-4CD5-89DA-660764F7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285875"/>
            <a:ext cx="1533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00">
                <a:solidFill>
                  <a:srgbClr val="668EFD"/>
                </a:solidFill>
              </a:defRPr>
            </a:defPPr>
            <a:lvl1pPr>
              <a:defRPr sz="3400">
                <a:solidFill>
                  <a:srgbClr val="668EFD"/>
                </a:solidFill>
              </a:defRPr>
            </a:lvl1pPr>
            <a:lvl2pPr>
              <a:defRPr sz="3400">
                <a:solidFill>
                  <a:srgbClr val="668EFD"/>
                </a:solidFill>
              </a:defRPr>
            </a:lvl2pPr>
            <a:lvl3pPr>
              <a:defRPr sz="3400">
                <a:solidFill>
                  <a:srgbClr val="668EFD"/>
                </a:solidFill>
              </a:defRPr>
            </a:lvl3pPr>
            <a:lvl4pPr>
              <a:defRPr sz="3400">
                <a:solidFill>
                  <a:srgbClr val="668EFD"/>
                </a:solidFill>
              </a:defRPr>
            </a:lvl4pPr>
            <a:lvl5pPr>
              <a:defRPr sz="3400">
                <a:solidFill>
                  <a:srgbClr val="668EFD"/>
                </a:solidFill>
              </a:defRPr>
            </a:lvl5pPr>
            <a:lvl6pPr>
              <a:defRPr sz="3400">
                <a:solidFill>
                  <a:srgbClr val="668EFD"/>
                </a:solidFill>
              </a:defRPr>
            </a:lvl6pPr>
            <a:lvl7pPr>
              <a:defRPr sz="3400">
                <a:solidFill>
                  <a:srgbClr val="668EFD"/>
                </a:solidFill>
              </a:defRPr>
            </a:lvl7pPr>
            <a:lvl8pPr>
              <a:defRPr sz="3400">
                <a:solidFill>
                  <a:srgbClr val="668EFD"/>
                </a:solidFill>
              </a:defRPr>
            </a:lvl8pPr>
            <a:lvl9pPr>
              <a:defRPr sz="3400">
                <a:solidFill>
                  <a:srgbClr val="668EFD"/>
                </a:solidFill>
              </a:defRPr>
            </a:lvl9pPr>
          </a:lstStyle>
          <a:p xmlns:a="http://schemas.openxmlformats.org/drawingml/2006/main">
            <a:pPr>
              <a:defRPr sz="3400">
                <a:solidFill>
                  <a:srgbClr val="668EFD"/>
                </a:solidFill>
              </a:defRPr>
            </a:pPr>
            <a:r>
              <a:rPr sz="3400">
                <a:solidFill>
                  <a:srgbClr val="668EFD"/>
                </a:solidFill>
              </a:rPr>
              <a:t>목표 및 학습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A802B-F9A8-43AB-8CE9-D6480E29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1533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00">
                <a:solidFill>
                  <a:srgbClr val="4E4E4E"/>
                </a:solidFill>
              </a:defRPr>
            </a:defPPr>
            <a:lvl1pPr>
              <a:defRPr sz="2000">
                <a:solidFill>
                  <a:srgbClr val="4E4E4E"/>
                </a:solidFill>
              </a:defRPr>
            </a:lvl1pPr>
            <a:lvl2pPr>
              <a:defRPr sz="2000">
                <a:solidFill>
                  <a:srgbClr val="4E4E4E"/>
                </a:solidFill>
              </a:defRPr>
            </a:lvl2pPr>
            <a:lvl3pPr>
              <a:defRPr sz="2000">
                <a:solidFill>
                  <a:srgbClr val="4E4E4E"/>
                </a:solidFill>
              </a:defRPr>
            </a:lvl3pPr>
            <a:lvl4pPr>
              <a:defRPr sz="2000">
                <a:solidFill>
                  <a:srgbClr val="4E4E4E"/>
                </a:solidFill>
              </a:defRPr>
            </a:lvl4pPr>
            <a:lvl5pPr>
              <a:defRPr sz="2000">
                <a:solidFill>
                  <a:srgbClr val="4E4E4E"/>
                </a:solidFill>
              </a:defRPr>
            </a:lvl5pPr>
            <a:lvl6pPr>
              <a:defRPr sz="2000">
                <a:solidFill>
                  <a:srgbClr val="4E4E4E"/>
                </a:solidFill>
              </a:defRPr>
            </a:lvl6pPr>
            <a:lvl7pPr>
              <a:defRPr sz="2000">
                <a:solidFill>
                  <a:srgbClr val="4E4E4E"/>
                </a:solidFill>
              </a:defRPr>
            </a:lvl7pPr>
            <a:lvl8pPr>
              <a:defRPr sz="2000">
                <a:solidFill>
                  <a:srgbClr val="4E4E4E"/>
                </a:solidFill>
              </a:defRPr>
            </a:lvl8pPr>
            <a:lvl9pPr>
              <a:defRPr sz="2000">
                <a:solidFill>
                  <a:srgbClr val="4E4E4E"/>
                </a:solidFill>
              </a:defRPr>
            </a:lvl9pPr>
          </a:lstStyle>
          <a:p xmlns:a="http://schemas.openxmlformats.org/drawingml/2006/main">
            <a:pPr>
              <a:defRPr sz="2000">
                <a:solidFill>
                  <a:srgbClr val="4E4E4E"/>
                </a:solidFill>
              </a:defRPr>
            </a:pPr>
            <a:r>
              <a:rPr sz="2000">
                <a:solidFill>
                  <a:srgbClr val="4E4E4E"/>
                </a:solidFill>
              </a:rPr>
              <a:t>현재 개발 중인 3D 개인 프로젝트를 완성하며 전투 시스템과 최적화 경험을 넓히겠습니다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6EA4C-7576-4293-99CA-57F019BF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1533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668EFD"/>
                </a:solidFill>
              </a:defRPr>
            </a:defPPr>
            <a:lvl1pPr>
              <a:defRPr sz="1725">
                <a:solidFill>
                  <a:srgbClr val="668EFD"/>
                </a:solidFill>
              </a:defRPr>
            </a:lvl1pPr>
            <a:lvl2pPr>
              <a:defRPr sz="1725">
                <a:solidFill>
                  <a:srgbClr val="668EFD"/>
                </a:solidFill>
              </a:defRPr>
            </a:lvl2pPr>
            <a:lvl3pPr>
              <a:defRPr sz="1725">
                <a:solidFill>
                  <a:srgbClr val="668EFD"/>
                </a:solidFill>
              </a:defRPr>
            </a:lvl3pPr>
            <a:lvl4pPr>
              <a:defRPr sz="1725">
                <a:solidFill>
                  <a:srgbClr val="668EFD"/>
                </a:solidFill>
              </a:defRPr>
            </a:lvl4pPr>
            <a:lvl5pPr>
              <a:defRPr sz="1725">
                <a:solidFill>
                  <a:srgbClr val="668EFD"/>
                </a:solidFill>
              </a:defRPr>
            </a:lvl5pPr>
            <a:lvl6pPr>
              <a:defRPr sz="1725">
                <a:solidFill>
                  <a:srgbClr val="668EFD"/>
                </a:solidFill>
              </a:defRPr>
            </a:lvl6pPr>
            <a:lvl7pPr>
              <a:defRPr sz="1725">
                <a:solidFill>
                  <a:srgbClr val="668EFD"/>
                </a:solidFill>
              </a:defRPr>
            </a:lvl7pPr>
            <a:lvl8pPr>
              <a:defRPr sz="1725">
                <a:solidFill>
                  <a:srgbClr val="668EFD"/>
                </a:solidFill>
              </a:defRPr>
            </a:lvl8pPr>
            <a:lvl9pPr>
              <a:defRPr sz="1725">
                <a:solidFill>
                  <a:srgbClr val="668EFD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668EFD"/>
                </a:solidFill>
              </a:defRPr>
            </a:pPr>
            <a:r>
              <a:rPr sz="1725">
                <a:solidFill>
                  <a:srgbClr val="668EFD"/>
                </a:solidFill>
              </a:rPr>
              <a:t>취업 목표   2027년 상반기  /  라이브 서비스 게임 개발사 Unity 클라이언트 프로그래머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187C5-A68C-4243-8ACF-24A1B57B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76625"/>
            <a:ext cx="623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>
                <a:solidFill>
                  <a:srgbClr val="668EFD"/>
                </a:solidFill>
              </a:defRPr>
            </a:defPPr>
            <a:lvl1pPr>
              <a:defRPr sz="2325">
                <a:solidFill>
                  <a:srgbClr val="668EFD"/>
                </a:solidFill>
              </a:defRPr>
            </a:lvl1pPr>
            <a:lvl2pPr>
              <a:defRPr sz="2325">
                <a:solidFill>
                  <a:srgbClr val="668EFD"/>
                </a:solidFill>
              </a:defRPr>
            </a:lvl2pPr>
            <a:lvl3pPr>
              <a:defRPr sz="2325">
                <a:solidFill>
                  <a:srgbClr val="668EFD"/>
                </a:solidFill>
              </a:defRPr>
            </a:lvl3pPr>
            <a:lvl4pPr>
              <a:defRPr sz="2325">
                <a:solidFill>
                  <a:srgbClr val="668EFD"/>
                </a:solidFill>
              </a:defRPr>
            </a:lvl4pPr>
            <a:lvl5pPr>
              <a:defRPr sz="2325">
                <a:solidFill>
                  <a:srgbClr val="668EFD"/>
                </a:solidFill>
              </a:defRPr>
            </a:lvl5pPr>
            <a:lvl6pPr>
              <a:defRPr sz="2325">
                <a:solidFill>
                  <a:srgbClr val="668EFD"/>
                </a:solidFill>
              </a:defRPr>
            </a:lvl6pPr>
            <a:lvl7pPr>
              <a:defRPr sz="2325">
                <a:solidFill>
                  <a:srgbClr val="668EFD"/>
                </a:solidFill>
              </a:defRPr>
            </a:lvl7pPr>
            <a:lvl8pPr>
              <a:defRPr sz="2325">
                <a:solidFill>
                  <a:srgbClr val="668EFD"/>
                </a:solidFill>
              </a:defRPr>
            </a:lvl8pPr>
            <a:lvl9pPr>
              <a:defRPr sz="2325">
                <a:solidFill>
                  <a:srgbClr val="668EFD"/>
                </a:solidFill>
              </a:defRPr>
            </a:lvl9pPr>
          </a:lstStyle>
          <a:p xmlns:a="http://schemas.openxmlformats.org/drawingml/2006/main">
            <a:pPr>
              <a:defRPr sz="2325">
                <a:solidFill>
                  <a:srgbClr val="668EFD"/>
                </a:solidFill>
              </a:defRPr>
            </a:pPr>
            <a:r>
              <a:rPr sz="2325">
                <a:solidFill>
                  <a:srgbClr val="668EFD"/>
                </a:solidFill>
              </a:rPr>
              <a:t>1단계  3D 개인 프로젝트 완성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1A322-C3F8-4F9C-AF9F-E71AA44E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38600"/>
            <a:ext cx="623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>
                <a:solidFill>
                  <a:srgbClr val="9E9E9E"/>
                </a:solidFill>
              </a:defRPr>
            </a:defPPr>
            <a:lvl1pPr>
              <a:defRPr sz="1575">
                <a:solidFill>
                  <a:srgbClr val="9E9E9E"/>
                </a:solidFill>
              </a:defRPr>
            </a:lvl1pPr>
            <a:lvl2pPr>
              <a:defRPr sz="1575">
                <a:solidFill>
                  <a:srgbClr val="9E9E9E"/>
                </a:solidFill>
              </a:defRPr>
            </a:lvl2pPr>
            <a:lvl3pPr>
              <a:defRPr sz="1575">
                <a:solidFill>
                  <a:srgbClr val="9E9E9E"/>
                </a:solidFill>
              </a:defRPr>
            </a:lvl3pPr>
            <a:lvl4pPr>
              <a:defRPr sz="1575">
                <a:solidFill>
                  <a:srgbClr val="9E9E9E"/>
                </a:solidFill>
              </a:defRPr>
            </a:lvl4pPr>
            <a:lvl5pPr>
              <a:defRPr sz="1575">
                <a:solidFill>
                  <a:srgbClr val="9E9E9E"/>
                </a:solidFill>
              </a:defRPr>
            </a:lvl5pPr>
            <a:lvl6pPr>
              <a:defRPr sz="1575">
                <a:solidFill>
                  <a:srgbClr val="9E9E9E"/>
                </a:solidFill>
              </a:defRPr>
            </a:lvl6pPr>
            <a:lvl7pPr>
              <a:defRPr sz="1575">
                <a:solidFill>
                  <a:srgbClr val="9E9E9E"/>
                </a:solidFill>
              </a:defRPr>
            </a:lvl7pPr>
            <a:lvl8pPr>
              <a:defRPr sz="1575">
                <a:solidFill>
                  <a:srgbClr val="9E9E9E"/>
                </a:solidFill>
              </a:defRPr>
            </a:lvl8pPr>
            <a:lvl9pPr>
              <a:defRPr sz="1575">
                <a:solidFill>
                  <a:srgbClr val="9E9E9E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9E9E9E"/>
                </a:solidFill>
              </a:defRPr>
            </a:pPr>
            <a:r>
              <a:rPr sz="1575">
                <a:solidFill>
                  <a:srgbClr val="9E9E9E"/>
                </a:solidFill>
              </a:rPr>
              <a:t>졸업 전  2026.10 ~ 2027.02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B1604-64CF-4A96-A3BB-6FED92FE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19625"/>
            <a:ext cx="623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>
                <a:solidFill>
                  <a:srgbClr val="4E4E4E"/>
                </a:solidFill>
              </a:defRPr>
            </a:defPPr>
            <a:lvl1pPr>
              <a:defRPr sz="1875">
                <a:solidFill>
                  <a:srgbClr val="4E4E4E"/>
                </a:solidFill>
              </a:defRPr>
            </a:lvl1pPr>
            <a:lvl2pPr>
              <a:defRPr sz="1875">
                <a:solidFill>
                  <a:srgbClr val="4E4E4E"/>
                </a:solidFill>
              </a:defRPr>
            </a:lvl2pPr>
            <a:lvl3pPr>
              <a:defRPr sz="1875">
                <a:solidFill>
                  <a:srgbClr val="4E4E4E"/>
                </a:solidFill>
              </a:defRPr>
            </a:lvl3pPr>
            <a:lvl4pPr>
              <a:defRPr sz="1875">
                <a:solidFill>
                  <a:srgbClr val="4E4E4E"/>
                </a:solidFill>
              </a:defRPr>
            </a:lvl4pPr>
            <a:lvl5pPr>
              <a:defRPr sz="1875">
                <a:solidFill>
                  <a:srgbClr val="4E4E4E"/>
                </a:solidFill>
              </a:defRPr>
            </a:lvl5pPr>
            <a:lvl6pPr>
              <a:defRPr sz="1875">
                <a:solidFill>
                  <a:srgbClr val="4E4E4E"/>
                </a:solidFill>
              </a:defRPr>
            </a:lvl6pPr>
            <a:lvl7pPr>
              <a:defRPr sz="1875">
                <a:solidFill>
                  <a:srgbClr val="4E4E4E"/>
                </a:solidFill>
              </a:defRPr>
            </a:lvl7pPr>
            <a:lvl8pPr>
              <a:defRPr sz="1875">
                <a:solidFill>
                  <a:srgbClr val="4E4E4E"/>
                </a:solidFill>
              </a:defRPr>
            </a:lvl8pPr>
            <a:lvl9pPr>
              <a:defRPr sz="1875">
                <a:solidFill>
                  <a:srgbClr val="4E4E4E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4E4E4E"/>
                </a:solidFill>
              </a:defRPr>
            </a:pPr>
            <a:r>
              <a:rPr sz="1875">
                <a:solidFill>
                  <a:srgbClr val="4E4E4E"/>
                </a:solidFill>
              </a:rPr>
              <a:t>Unity 6 / C# 부대 지휘 생존 게임</a:t>
            </a:r>
          </a:p>
          <a:p xmlns:a="http://schemas.openxmlformats.org/drawingml/2006/main">
            <a:pPr>
              <a:defRPr sz="1875">
                <a:solidFill>
                  <a:srgbClr val="4E4E4E"/>
                </a:solidFill>
              </a:defRPr>
            </a:pPr>
            <a:r>
              <a:rPr sz="1875">
                <a:solidFill>
                  <a:srgbClr val="4E4E4E"/>
                </a:solidFill>
              </a:rPr>
              <a:t>병력 편성, 개별 성장과 카드 선택으로 전투 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7C87A-803B-4BEA-AA83-654EC40C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72150"/>
            <a:ext cx="623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>
                <a:solidFill>
                  <a:srgbClr val="668EFD"/>
                </a:solidFill>
              </a:defRPr>
            </a:defPPr>
            <a:lvl1pPr>
              <a:defRPr sz="1875">
                <a:solidFill>
                  <a:srgbClr val="668EFD"/>
                </a:solidFill>
              </a:defRPr>
            </a:lvl1pPr>
            <a:lvl2pPr>
              <a:defRPr sz="1875">
                <a:solidFill>
                  <a:srgbClr val="668EFD"/>
                </a:solidFill>
              </a:defRPr>
            </a:lvl2pPr>
            <a:lvl3pPr>
              <a:defRPr sz="1875">
                <a:solidFill>
                  <a:srgbClr val="668EFD"/>
                </a:solidFill>
              </a:defRPr>
            </a:lvl3pPr>
            <a:lvl4pPr>
              <a:defRPr sz="1875">
                <a:solidFill>
                  <a:srgbClr val="668EFD"/>
                </a:solidFill>
              </a:defRPr>
            </a:lvl4pPr>
            <a:lvl5pPr>
              <a:defRPr sz="1875">
                <a:solidFill>
                  <a:srgbClr val="668EFD"/>
                </a:solidFill>
              </a:defRPr>
            </a:lvl5pPr>
            <a:lvl6pPr>
              <a:defRPr sz="1875">
                <a:solidFill>
                  <a:srgbClr val="668EFD"/>
                </a:solidFill>
              </a:defRPr>
            </a:lvl6pPr>
            <a:lvl7pPr>
              <a:defRPr sz="1875">
                <a:solidFill>
                  <a:srgbClr val="668EFD"/>
                </a:solidFill>
              </a:defRPr>
            </a:lvl7pPr>
            <a:lvl8pPr>
              <a:defRPr sz="1875">
                <a:solidFill>
                  <a:srgbClr val="668EFD"/>
                </a:solidFill>
              </a:defRPr>
            </a:lvl8pPr>
            <a:lvl9pPr>
              <a:defRPr sz="1875">
                <a:solidFill>
                  <a:srgbClr val="668EFD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668EFD"/>
                </a:solidFill>
              </a:defRPr>
            </a:pPr>
            <a:r>
              <a:rPr sz="1875">
                <a:solidFill>
                  <a:srgbClr val="668EFD"/>
                </a:solidFill>
              </a:rPr>
              <a:t>현재 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7917E-B02A-4092-B188-35E73B2C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72200"/>
            <a:ext cx="6238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>
                <a:solidFill>
                  <a:srgbClr val="4E4E4E"/>
                </a:solidFill>
              </a:defRPr>
            </a:defPPr>
            <a:lvl1pPr>
              <a:defRPr sz="1800">
                <a:solidFill>
                  <a:srgbClr val="4E4E4E"/>
                </a:solidFill>
              </a:defRPr>
            </a:lvl1pPr>
            <a:lvl2pPr>
              <a:defRPr sz="1800">
                <a:solidFill>
                  <a:srgbClr val="4E4E4E"/>
                </a:solidFill>
              </a:defRPr>
            </a:lvl2pPr>
            <a:lvl3pPr>
              <a:defRPr sz="1800">
                <a:solidFill>
                  <a:srgbClr val="4E4E4E"/>
                </a:solidFill>
              </a:defRPr>
            </a:lvl3pPr>
            <a:lvl4pPr>
              <a:defRPr sz="1800">
                <a:solidFill>
                  <a:srgbClr val="4E4E4E"/>
                </a:solidFill>
              </a:defRPr>
            </a:lvl4pPr>
            <a:lvl5pPr>
              <a:defRPr sz="1800">
                <a:solidFill>
                  <a:srgbClr val="4E4E4E"/>
                </a:solidFill>
              </a:defRPr>
            </a:lvl5pPr>
            <a:lvl6pPr>
              <a:defRPr sz="1800">
                <a:solidFill>
                  <a:srgbClr val="4E4E4E"/>
                </a:solidFill>
              </a:defRPr>
            </a:lvl6pPr>
            <a:lvl7pPr>
              <a:defRPr sz="1800">
                <a:solidFill>
                  <a:srgbClr val="4E4E4E"/>
                </a:solidFill>
              </a:defRPr>
            </a:lvl7pPr>
            <a:lvl8pPr>
              <a:defRPr sz="1800">
                <a:solidFill>
                  <a:srgbClr val="4E4E4E"/>
                </a:solidFill>
              </a:defRPr>
            </a:lvl8pPr>
            <a:lvl9pPr>
              <a:defRPr sz="1800">
                <a:solidFill>
                  <a:srgbClr val="4E4E4E"/>
                </a:solidFill>
              </a:defRPr>
            </a:lvl9pPr>
          </a:lstStyle>
          <a:p xmlns:a="http://schemas.openxmlformats.org/drawingml/2006/main">
            <a:pPr>
              <a:defRPr sz="1800">
                <a:solidFill>
                  <a:srgbClr val="4E4E4E"/>
                </a:solidFill>
              </a:defRPr>
            </a:pPr>
            <a:r>
              <a:rPr sz="1800">
                <a:solidFill>
                  <a:srgbClr val="4E4E4E"/>
                </a:solidFill>
              </a:rPr>
              <a:t>병사별 전투와 스킬, 지휘관 지원 카드</a:t>
            </a:r>
          </a:p>
          <a:p xmlns:a="http://schemas.openxmlformats.org/drawingml/2006/main">
            <a:pPr>
              <a:defRPr sz="1800">
                <a:solidFill>
                  <a:srgbClr val="4E4E4E"/>
                </a:solidFill>
              </a:defRPr>
            </a:pPr>
            <a:r>
              <a:rPr sz="1800">
                <a:solidFill>
                  <a:srgbClr val="4E4E4E"/>
                </a:solidFill>
              </a:rPr>
              <a:t>Day별 웨이브와 보스 돌진 패턴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FF5D6-6C70-4103-8322-55035314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200900"/>
            <a:ext cx="623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>
                <a:solidFill>
                  <a:srgbClr val="668EFD"/>
                </a:solidFill>
              </a:defRPr>
            </a:defPPr>
            <a:lvl1pPr>
              <a:defRPr sz="1875">
                <a:solidFill>
                  <a:srgbClr val="668EFD"/>
                </a:solidFill>
              </a:defRPr>
            </a:lvl1pPr>
            <a:lvl2pPr>
              <a:defRPr sz="1875">
                <a:solidFill>
                  <a:srgbClr val="668EFD"/>
                </a:solidFill>
              </a:defRPr>
            </a:lvl2pPr>
            <a:lvl3pPr>
              <a:defRPr sz="1875">
                <a:solidFill>
                  <a:srgbClr val="668EFD"/>
                </a:solidFill>
              </a:defRPr>
            </a:lvl3pPr>
            <a:lvl4pPr>
              <a:defRPr sz="1875">
                <a:solidFill>
                  <a:srgbClr val="668EFD"/>
                </a:solidFill>
              </a:defRPr>
            </a:lvl4pPr>
            <a:lvl5pPr>
              <a:defRPr sz="1875">
                <a:solidFill>
                  <a:srgbClr val="668EFD"/>
                </a:solidFill>
              </a:defRPr>
            </a:lvl5pPr>
            <a:lvl6pPr>
              <a:defRPr sz="1875">
                <a:solidFill>
                  <a:srgbClr val="668EFD"/>
                </a:solidFill>
              </a:defRPr>
            </a:lvl6pPr>
            <a:lvl7pPr>
              <a:defRPr sz="1875">
                <a:solidFill>
                  <a:srgbClr val="668EFD"/>
                </a:solidFill>
              </a:defRPr>
            </a:lvl7pPr>
            <a:lvl8pPr>
              <a:defRPr sz="1875">
                <a:solidFill>
                  <a:srgbClr val="668EFD"/>
                </a:solidFill>
              </a:defRPr>
            </a:lvl8pPr>
            <a:lvl9pPr>
              <a:defRPr sz="1875">
                <a:solidFill>
                  <a:srgbClr val="668EFD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668EFD"/>
                </a:solidFill>
              </a:defRPr>
            </a:pPr>
            <a:r>
              <a:rPr sz="1875">
                <a:solidFill>
                  <a:srgbClr val="668EFD"/>
                </a:solidFill>
              </a:rPr>
              <a:t>완성 및 학습 계획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FD5FA-A03E-4324-944B-A1F4F66F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620000"/>
            <a:ext cx="6238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4E4E4E"/>
                </a:solidFill>
              </a:defRPr>
            </a:defPPr>
            <a:lvl1pPr>
              <a:defRPr sz="1725">
                <a:solidFill>
                  <a:srgbClr val="4E4E4E"/>
                </a:solidFill>
              </a:defRPr>
            </a:lvl1pPr>
            <a:lvl2pPr>
              <a:defRPr sz="1725">
                <a:solidFill>
                  <a:srgbClr val="4E4E4E"/>
                </a:solidFill>
              </a:defRPr>
            </a:lvl2pPr>
            <a:lvl3pPr>
              <a:defRPr sz="1725">
                <a:solidFill>
                  <a:srgbClr val="4E4E4E"/>
                </a:solidFill>
              </a:defRPr>
            </a:lvl3pPr>
            <a:lvl4pPr>
              <a:defRPr sz="1725">
                <a:solidFill>
                  <a:srgbClr val="4E4E4E"/>
                </a:solidFill>
              </a:defRPr>
            </a:lvl4pPr>
            <a:lvl5pPr>
              <a:defRPr sz="1725">
                <a:solidFill>
                  <a:srgbClr val="4E4E4E"/>
                </a:solidFill>
              </a:defRPr>
            </a:lvl5pPr>
            <a:lvl6pPr>
              <a:defRPr sz="1725">
                <a:solidFill>
                  <a:srgbClr val="4E4E4E"/>
                </a:solidFill>
              </a:defRPr>
            </a:lvl6pPr>
            <a:lvl7pPr>
              <a:defRPr sz="1725">
                <a:solidFill>
                  <a:srgbClr val="4E4E4E"/>
                </a:solidFill>
              </a:defRPr>
            </a:lvl7pPr>
            <a:lvl8pPr>
              <a:defRPr sz="1725">
                <a:solidFill>
                  <a:srgbClr val="4E4E4E"/>
                </a:solidFill>
              </a:defRPr>
            </a:lvl8pPr>
            <a:lvl9pPr>
              <a:defRPr sz="1725">
                <a:solidFill>
                  <a:srgbClr val="4E4E4E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4E4E4E"/>
                </a:solidFill>
              </a:defRPr>
            </a:pPr>
            <a:r>
              <a:rPr sz="1725">
                <a:solidFill>
                  <a:srgbClr val="4E4E4E"/>
                </a:solidFill>
              </a:rPr>
              <a:t>전투 밸런스와 UI를 다듬어 플레이 빌드 완성</a:t>
            </a:r>
          </a:p>
          <a:p xmlns:a="http://schemas.openxmlformats.org/drawingml/2006/main">
            <a:pPr>
              <a:defRPr sz="1725">
                <a:solidFill>
                  <a:srgbClr val="4E4E4E"/>
                </a:solidFill>
              </a:defRPr>
            </a:pPr>
            <a:r>
              <a:rPr sz="1725">
                <a:solidFill>
                  <a:srgbClr val="4E4E4E"/>
                </a:solidFill>
              </a:rPr>
              <a:t>Profiler로 병목 측정 후 개선</a:t>
            </a:r>
          </a:p>
          <a:p xmlns:a="http://schemas.openxmlformats.org/drawingml/2006/main">
            <a:pPr>
              <a:defRPr sz="1725">
                <a:solidFill>
                  <a:srgbClr val="4E4E4E"/>
                </a:solidFill>
              </a:defRPr>
            </a:pPr>
            <a:r>
              <a:rPr sz="1725">
                <a:solidFill>
                  <a:srgbClr val="4E4E4E"/>
                </a:solidFill>
              </a:rPr>
              <a:t>이후 Android 빌드와 실제 기기 성능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9FA89-CFED-413B-B411-0BDF5139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429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>
                <a:solidFill>
                  <a:srgbClr val="9E9E9E"/>
                </a:solidFill>
              </a:defRPr>
            </a:defPPr>
            <a:lvl1pPr>
              <a:defRPr sz="1500">
                <a:solidFill>
                  <a:srgbClr val="9E9E9E"/>
                </a:solidFill>
              </a:defRPr>
            </a:lvl1pPr>
            <a:lvl2pPr>
              <a:defRPr sz="1500">
                <a:solidFill>
                  <a:srgbClr val="9E9E9E"/>
                </a:solidFill>
              </a:defRPr>
            </a:lvl2pPr>
            <a:lvl3pPr>
              <a:defRPr sz="1500">
                <a:solidFill>
                  <a:srgbClr val="9E9E9E"/>
                </a:solidFill>
              </a:defRPr>
            </a:lvl3pPr>
            <a:lvl4pPr>
              <a:defRPr sz="1500">
                <a:solidFill>
                  <a:srgbClr val="9E9E9E"/>
                </a:solidFill>
              </a:defRPr>
            </a:lvl4pPr>
            <a:lvl5pPr>
              <a:defRPr sz="1500">
                <a:solidFill>
                  <a:srgbClr val="9E9E9E"/>
                </a:solidFill>
              </a:defRPr>
            </a:lvl5pPr>
            <a:lvl6pPr>
              <a:defRPr sz="1500">
                <a:solidFill>
                  <a:srgbClr val="9E9E9E"/>
                </a:solidFill>
              </a:defRPr>
            </a:lvl6pPr>
            <a:lvl7pPr>
              <a:defRPr sz="1500">
                <a:solidFill>
                  <a:srgbClr val="9E9E9E"/>
                </a:solidFill>
              </a:defRPr>
            </a:lvl7pPr>
            <a:lvl8pPr>
              <a:defRPr sz="1500">
                <a:solidFill>
                  <a:srgbClr val="9E9E9E"/>
                </a:solidFill>
              </a:defRPr>
            </a:lvl8pPr>
            <a:lvl9pPr>
              <a:defRPr sz="1500">
                <a:solidFill>
                  <a:srgbClr val="9E9E9E"/>
                </a:solidFill>
              </a:defRPr>
            </a:lvl9pPr>
          </a:lstStyle>
          <a:p xmlns:a="http://schemas.openxmlformats.org/drawingml/2006/main">
            <a:pPr>
              <a:defRPr sz="1500">
                <a:solidFill>
                  <a:srgbClr val="9E9E9E"/>
                </a:solidFill>
              </a:defRPr>
            </a:pPr>
            <a:r>
              <a:rPr sz="1500">
                <a:solidFill>
                  <a:srgbClr val="9E9E9E"/>
                </a:solidFill>
              </a:rPr>
              <a:t>개발 중인 실제 전투 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21B99-964E-43C6-841B-AABFD109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21067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>
                <a:solidFill>
                  <a:srgbClr val="4E4E4E"/>
                </a:solidFill>
              </a:defRPr>
            </a:defPPr>
            <a:lvl1pPr>
              <a:defRPr sz="1650">
                <a:solidFill>
                  <a:srgbClr val="4E4E4E"/>
                </a:solidFill>
              </a:defRPr>
            </a:lvl1pPr>
            <a:lvl2pPr>
              <a:defRPr sz="1650">
                <a:solidFill>
                  <a:srgbClr val="4E4E4E"/>
                </a:solidFill>
              </a:defRPr>
            </a:lvl2pPr>
            <a:lvl3pPr>
              <a:defRPr sz="1650">
                <a:solidFill>
                  <a:srgbClr val="4E4E4E"/>
                </a:solidFill>
              </a:defRPr>
            </a:lvl3pPr>
            <a:lvl4pPr>
              <a:defRPr sz="1650">
                <a:solidFill>
                  <a:srgbClr val="4E4E4E"/>
                </a:solidFill>
              </a:defRPr>
            </a:lvl4pPr>
            <a:lvl5pPr>
              <a:defRPr sz="1650">
                <a:solidFill>
                  <a:srgbClr val="4E4E4E"/>
                </a:solidFill>
              </a:defRPr>
            </a:lvl5pPr>
            <a:lvl6pPr>
              <a:defRPr sz="1650">
                <a:solidFill>
                  <a:srgbClr val="4E4E4E"/>
                </a:solidFill>
              </a:defRPr>
            </a:lvl6pPr>
            <a:lvl7pPr>
              <a:defRPr sz="1650">
                <a:solidFill>
                  <a:srgbClr val="4E4E4E"/>
                </a:solidFill>
              </a:defRPr>
            </a:lvl7pPr>
            <a:lvl8pPr>
              <a:defRPr sz="1650">
                <a:solidFill>
                  <a:srgbClr val="4E4E4E"/>
                </a:solidFill>
              </a:defRPr>
            </a:lvl8pPr>
            <a:lvl9pPr>
              <a:defRPr sz="1650">
                <a:solidFill>
                  <a:srgbClr val="4E4E4E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4E4E4E"/>
                </a:solidFill>
              </a:defRPr>
            </a:pPr>
            <a:r>
              <a:rPr sz="1650">
                <a:solidFill>
                  <a:srgbClr val="4E4E4E"/>
                </a:solidFill>
              </a:rPr>
              <a:t>2단계  입사 1년 차</a:t>
            </a:r>
          </a:p>
          <a:p xmlns:a="http://schemas.openxmlformats.org/drawingml/2006/main">
            <a:pPr>
              <a:defRPr sz="1650">
                <a:solidFill>
                  <a:srgbClr val="4E4E4E"/>
                </a:solidFill>
              </a:defRPr>
            </a:pPr>
            <a:r>
              <a:rPr sz="1650">
                <a:solidFill>
                  <a:srgbClr val="4E4E4E"/>
                </a:solidFill>
              </a:rPr>
              <a:t>코드 구조와 데이터 흐름을 익혀 콘텐츠 업데이트 담당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38E02-6450-4A84-9E57-69149941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210675"/>
            <a:ext cx="704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>
                <a:solidFill>
                  <a:srgbClr val="4E4E4E"/>
                </a:solidFill>
              </a:defRPr>
            </a:defPPr>
            <a:lvl1pPr>
              <a:defRPr sz="1650">
                <a:solidFill>
                  <a:srgbClr val="4E4E4E"/>
                </a:solidFill>
              </a:defRPr>
            </a:lvl1pPr>
            <a:lvl2pPr>
              <a:defRPr sz="1650">
                <a:solidFill>
                  <a:srgbClr val="4E4E4E"/>
                </a:solidFill>
              </a:defRPr>
            </a:lvl2pPr>
            <a:lvl3pPr>
              <a:defRPr sz="1650">
                <a:solidFill>
                  <a:srgbClr val="4E4E4E"/>
                </a:solidFill>
              </a:defRPr>
            </a:lvl3pPr>
            <a:lvl4pPr>
              <a:defRPr sz="1650">
                <a:solidFill>
                  <a:srgbClr val="4E4E4E"/>
                </a:solidFill>
              </a:defRPr>
            </a:lvl4pPr>
            <a:lvl5pPr>
              <a:defRPr sz="1650">
                <a:solidFill>
                  <a:srgbClr val="4E4E4E"/>
                </a:solidFill>
              </a:defRPr>
            </a:lvl5pPr>
            <a:lvl6pPr>
              <a:defRPr sz="1650">
                <a:solidFill>
                  <a:srgbClr val="4E4E4E"/>
                </a:solidFill>
              </a:defRPr>
            </a:lvl6pPr>
            <a:lvl7pPr>
              <a:defRPr sz="1650">
                <a:solidFill>
                  <a:srgbClr val="4E4E4E"/>
                </a:solidFill>
              </a:defRPr>
            </a:lvl7pPr>
            <a:lvl8pPr>
              <a:defRPr sz="1650">
                <a:solidFill>
                  <a:srgbClr val="4E4E4E"/>
                </a:solidFill>
              </a:defRPr>
            </a:lvl8pPr>
            <a:lvl9pPr>
              <a:defRPr sz="1650">
                <a:solidFill>
                  <a:srgbClr val="4E4E4E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4E4E4E"/>
                </a:solidFill>
              </a:defRPr>
            </a:pPr>
            <a:r>
              <a:rPr sz="1650">
                <a:solidFill>
                  <a:srgbClr val="4E4E4E"/>
                </a:solidFill>
              </a:rPr>
              <a:t>3단계  입사 2~3년 차</a:t>
            </a:r>
          </a:p>
          <a:p xmlns:a="http://schemas.openxmlformats.org/drawingml/2006/main">
            <a:pPr>
              <a:defRPr sz="1650">
                <a:solidFill>
                  <a:srgbClr val="4E4E4E"/>
                </a:solidFill>
              </a:defRPr>
            </a:pPr>
            <a:r>
              <a:rPr sz="1650">
                <a:solidFill>
                  <a:srgbClr val="4E4E4E"/>
                </a:solidFill>
              </a:rPr>
              <a:t>데이터로 확장하는 콘텐츠 시스템 설계와 배포 담당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60D43-9C3E-4855-822D-8480AEFA2E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c0eefb16b46a2"/>
          <a:stretch xmlns:a="http://schemas.openxmlformats.org/drawingml/2006/main"/>
        </p:blipFill>
        <p:spPr>
          <a:xfrm xmlns:a="http://schemas.openxmlformats.org/drawingml/2006/main">
            <a:off x="1466850" y="3476625"/>
            <a:ext cx="8572500" cy="48220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27473"/>
      </p:ext>
    </p:extLst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8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92300" y="7797800"/>
            <a:ext cx="4622800" cy="107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3713"/>
              </a:lnSpc>
            </a:pPr>
            <a:r>
              <a:rPr lang="en-US" sz="1799" b="0" i="0" u="none" strike="noStrike">
                <a:solidFill>
                  <a:srgbClr val="FFFFFF"/>
                </a:solidFill>
                <a:latin typeface="S-Core Dream 6 Bold"/>
                <a:ea typeface="S-Core Dream 6 Bold"/>
                <a:cs typeface="S-Core Dream 6 Bold"/>
              </a:rPr>
              <a:t>CONTACT</a:t>
            </a:r>
          </a:p>
          <a:p>
            <a:pPr lvl="0" algn="l">
              <a:lnSpc>
                <a:spcPct val="133713"/>
              </a:lnSpc>
            </a:pPr>
            <a:r>
              <a:rPr lang="en-US" sz="1799" b="0" i="0" u="none" strike="noStrike">
                <a:solidFill>
                  <a:srgbClr val="FFFFFF"/>
                </a:solidFill>
                <a:latin typeface="S-Core Dream 3 Light"/>
                <a:ea typeface="S-Core Dream 3 Light"/>
                <a:cs typeface="S-Core Dream 3 Light"/>
              </a:rPr>
              <a:t>aprk5678@naver.com</a:t>
            </a:r>
          </a:p>
          <a:p>
            <a:pPr lvl="0" algn="l">
              <a:lnSpc>
                <a:spcPct val="133713"/>
              </a:lnSpc>
            </a:pPr>
            <a:r>
              <a:rPr lang="en-US" sz="1799" b="0" i="0" u="none" strike="noStrike">
                <a:solidFill>
                  <a:srgbClr val="FFFFFF"/>
                </a:solidFill>
                <a:latin typeface="S-Core Dream 3 Light"/>
                <a:ea typeface="S-Core Dream 3 Light"/>
                <a:cs typeface="S-Core Dream 3 Light"/>
              </a:rPr>
              <a:t>010-7740-7099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03600" y="7759700"/>
            <a:ext cx="850900" cy="1130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778000" y="1816100"/>
            <a:ext cx="11303000" cy="3022600"/>
          </a:xfrm>
          <a:prstGeom prst="rect">
            <a:avLst/>
          </a:prstGeom>
        </p:spPr>
        <p:txBody>
          <a:bodyPr lIns="0" tIns="10250" rIns="0" bIns="10250" rtlCol="0" anchor="ctr"/>
          <a:lstStyle/>
          <a:p>
            <a:pPr lvl="0" algn="l">
              <a:lnSpc>
                <a:spcPct val="114622"/>
              </a:lnSpc>
            </a:pPr>
            <a:r>
              <a:rPr lang="en-US" sz="8495" b="0" i="0" u="none" strike="noStrike" spc="-600">
                <a:solidFill>
                  <a:srgbClr val="FFFFFF"/>
                </a:solidFill>
                <a:latin typeface="S-Core Dream 7 ExtraBold"/>
                <a:ea typeface="S-Core Dream 7 ExtraBold"/>
                <a:cs typeface="S-Core Dream 7 ExtraBold"/>
              </a:rPr>
              <a:t>감사합니다!</a:t>
            </a:r>
          </a:p>
          <a:p>
            <a:pPr lvl="0" algn="l">
              <a:lnSpc>
                <a:spcPct val="114622"/>
              </a:lnSpc>
            </a:pPr>
            <a:r>
              <a:rPr lang="en-US" sz="8495" b="0" i="0" u="none" strike="noStrike" spc="-600">
                <a:solidFill>
                  <a:srgbClr val="FFFFFF"/>
                </a:solidFill>
                <a:latin typeface="S-Core Dream 7 ExtraBold"/>
                <a:ea typeface="S-Core Dream 7 ExtraBold"/>
                <a:cs typeface="S-Core Dream 7 ExtraBold"/>
              </a:rPr>
              <a:t>잘 부탁드립니다!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92300" y="5181600"/>
            <a:ext cx="91440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6036"/>
              </a:lnSpc>
            </a:pPr>
            <a:r>
              <a:rPr lang="en-US" sz="2595" b="0" i="0" u="none" strike="noStrike">
                <a:solidFill>
                  <a:srgbClr val="FFFFFF"/>
                </a:solidFill>
                <a:latin typeface="S-Core Dream 4 Regular"/>
                <a:ea typeface="S-Core Dream 4 Regular"/>
                <a:cs typeface="S-Core Dream 4 Regular"/>
              </a:rPr>
              <a:t>2026 PORTFOLIO  ·  Unity Client Programmer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1390</Words>
  <Application>Microsoft Office PowerPoint</Application>
  <PresentationFormat>사용자 지정</PresentationFormat>
  <Paragraphs>287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7" baseType="lpstr">
      <vt:lpstr>S-Core Dream 5 Medium</vt:lpstr>
      <vt:lpstr>S-Core Dream 7 ExtraBold</vt:lpstr>
      <vt:lpstr>S-Core Dream 6 Bold</vt:lpstr>
      <vt:lpstr>S-Core Dream 4 Regular</vt:lpstr>
      <vt:lpstr>Arial</vt:lpstr>
      <vt:lpstr>S-Core Dream 3 Light</vt:lpstr>
      <vt:lpstr>S-Core Dream 2 ExtraLight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</cp:revision>
  <dcterms:created xsi:type="dcterms:W3CDTF">2006-08-16T00:00:00Z</dcterms:created>
  <dcterms:modified xsi:type="dcterms:W3CDTF">2026-10-21T06:48:47Z</dcterms:modified>
</cp:coreProperties>
</file>